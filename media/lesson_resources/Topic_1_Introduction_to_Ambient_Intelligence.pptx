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31"/>
  </p:notesMasterIdLst>
  <p:sldIdLst>
    <p:sldId id="256" r:id="rId2"/>
    <p:sldId id="397" r:id="rId3"/>
    <p:sldId id="399" r:id="rId4"/>
    <p:sldId id="424" r:id="rId5"/>
    <p:sldId id="423" r:id="rId6"/>
    <p:sldId id="422" r:id="rId7"/>
    <p:sldId id="425" r:id="rId8"/>
    <p:sldId id="427" r:id="rId9"/>
    <p:sldId id="426" r:id="rId10"/>
    <p:sldId id="428" r:id="rId11"/>
    <p:sldId id="432" r:id="rId12"/>
    <p:sldId id="429" r:id="rId13"/>
    <p:sldId id="438" r:id="rId14"/>
    <p:sldId id="446" r:id="rId15"/>
    <p:sldId id="447" r:id="rId16"/>
    <p:sldId id="439" r:id="rId17"/>
    <p:sldId id="437" r:id="rId18"/>
    <p:sldId id="433" r:id="rId19"/>
    <p:sldId id="434" r:id="rId20"/>
    <p:sldId id="430" r:id="rId21"/>
    <p:sldId id="435" r:id="rId22"/>
    <p:sldId id="436" r:id="rId23"/>
    <p:sldId id="431" r:id="rId24"/>
    <p:sldId id="440" r:id="rId25"/>
    <p:sldId id="441" r:id="rId26"/>
    <p:sldId id="442" r:id="rId27"/>
    <p:sldId id="443" r:id="rId28"/>
    <p:sldId id="444" r:id="rId29"/>
    <p:sldId id="421" r:id="rId30"/>
  </p:sldIdLst>
  <p:sldSz cx="9144000" cy="6858000" type="screen4x3"/>
  <p:notesSz cx="9144000" cy="6858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99"/>
    <a:srgbClr val="F6FCBA"/>
    <a:srgbClr val="FFD85D"/>
    <a:srgbClr val="1A1F10"/>
    <a:srgbClr val="6F9FED"/>
    <a:srgbClr val="FFC000"/>
    <a:srgbClr val="FFFF00"/>
    <a:srgbClr val="9A21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08" autoAdjust="0"/>
    <p:restoredTop sz="94660"/>
  </p:normalViewPr>
  <p:slideViewPr>
    <p:cSldViewPr>
      <p:cViewPr varScale="1">
        <p:scale>
          <a:sx n="59" d="100"/>
          <a:sy n="59" d="100"/>
        </p:scale>
        <p:origin x="1352" y="-76"/>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2038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4222056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3245174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26932500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3163577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26667247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1935519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931890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3232414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34009757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11612010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20836513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25257958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34769076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32201069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8401985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1940678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12833277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22509668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32437216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36455386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24612743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41197647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3898806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35287533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23868925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18013963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9559564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18226352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2580041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10/2/2025</a:t>
            </a:fld>
            <a:endParaRPr lang="en-US"/>
          </a:p>
        </p:txBody>
      </p:sp>
      <p:sp>
        <p:nvSpPr>
          <p:cNvPr id="5" name="Footer Placeholder 4"/>
          <p:cNvSpPr>
            <a:spLocks noGrp="1"/>
          </p:cNvSpPr>
          <p:nvPr>
            <p:ph type="ftr" sz="quarter" idx="11"/>
          </p:nvPr>
        </p:nvSpPr>
        <p:spPr/>
        <p:txBody>
          <a:bodyPr/>
          <a:lstStyle/>
          <a:p>
            <a:pPr marL="12700">
              <a:lnSpc>
                <a:spcPct val="100000"/>
              </a:lnSpc>
            </a:pPr>
            <a:endParaRPr lang="en-GB" spc="-15" dirty="0"/>
          </a:p>
        </p:txBody>
      </p:sp>
      <p:sp>
        <p:nvSpPr>
          <p:cNvPr id="6" name="Slide Number Placeholder 5"/>
          <p:cNvSpPr>
            <a:spLocks noGrp="1"/>
          </p:cNvSpPr>
          <p:nvPr>
            <p:ph type="sldNum" sz="quarter" idx="12"/>
          </p:nvPr>
        </p:nvSpPr>
        <p:spPr/>
        <p:txBody>
          <a:bodyPr/>
          <a:lstStyle/>
          <a:p>
            <a:pPr marL="25400">
              <a:lnSpc>
                <a:spcPct val="100000"/>
              </a:lnSpc>
            </a:pPr>
            <a:fld id="{81D60167-4931-47E6-BA6A-407CBD079E47}" type="slidenum">
              <a:rPr lang="en-GB" smtClean="0"/>
              <a:pPr marL="25400">
                <a:lnSpc>
                  <a:spcPct val="100000"/>
                </a:lnSpc>
              </a:pPr>
              <a:t>‹#›</a:t>
            </a:fld>
            <a:endParaRPr lang="en-GB" dirty="0"/>
          </a:p>
        </p:txBody>
      </p:sp>
    </p:spTree>
    <p:extLst>
      <p:ext uri="{BB962C8B-B14F-4D97-AF65-F5344CB8AC3E}">
        <p14:creationId xmlns:p14="http://schemas.microsoft.com/office/powerpoint/2010/main" val="884943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10/2/2025</a:t>
            </a:fld>
            <a:endParaRPr lang="en-US"/>
          </a:p>
        </p:txBody>
      </p:sp>
      <p:sp>
        <p:nvSpPr>
          <p:cNvPr id="5" name="Footer Placeholder 4"/>
          <p:cNvSpPr>
            <a:spLocks noGrp="1"/>
          </p:cNvSpPr>
          <p:nvPr>
            <p:ph type="ftr" sz="quarter" idx="11"/>
          </p:nvPr>
        </p:nvSpPr>
        <p:spPr/>
        <p:txBody>
          <a:bodyPr/>
          <a:lstStyle/>
          <a:p>
            <a:pPr marL="12700">
              <a:lnSpc>
                <a:spcPct val="100000"/>
              </a:lnSpc>
            </a:pPr>
            <a:endParaRPr lang="en-GB" spc="-15" dirty="0"/>
          </a:p>
        </p:txBody>
      </p:sp>
      <p:sp>
        <p:nvSpPr>
          <p:cNvPr id="6" name="Slide Number Placeholder 5"/>
          <p:cNvSpPr>
            <a:spLocks noGrp="1"/>
          </p:cNvSpPr>
          <p:nvPr>
            <p:ph type="sldNum" sz="quarter" idx="12"/>
          </p:nvPr>
        </p:nvSpPr>
        <p:spPr/>
        <p:txBody>
          <a:bodyPr/>
          <a:lstStyle/>
          <a:p>
            <a:pPr marL="25400">
              <a:lnSpc>
                <a:spcPct val="100000"/>
              </a:lnSpc>
            </a:pPr>
            <a:fld id="{81D60167-4931-47E6-BA6A-407CBD079E47}" type="slidenum">
              <a:rPr lang="en-GB" smtClean="0"/>
              <a:pPr marL="25400">
                <a:lnSpc>
                  <a:spcPct val="100000"/>
                </a:lnSpc>
              </a:pPr>
              <a:t>‹#›</a:t>
            </a:fld>
            <a:endParaRPr lang="en-GB" dirty="0"/>
          </a:p>
        </p:txBody>
      </p:sp>
    </p:spTree>
    <p:extLst>
      <p:ext uri="{BB962C8B-B14F-4D97-AF65-F5344CB8AC3E}">
        <p14:creationId xmlns:p14="http://schemas.microsoft.com/office/powerpoint/2010/main" val="1191830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10/2/2025</a:t>
            </a:fld>
            <a:endParaRPr lang="en-US"/>
          </a:p>
        </p:txBody>
      </p:sp>
      <p:sp>
        <p:nvSpPr>
          <p:cNvPr id="5" name="Footer Placeholder 4"/>
          <p:cNvSpPr>
            <a:spLocks noGrp="1"/>
          </p:cNvSpPr>
          <p:nvPr>
            <p:ph type="ftr" sz="quarter" idx="11"/>
          </p:nvPr>
        </p:nvSpPr>
        <p:spPr/>
        <p:txBody>
          <a:bodyPr/>
          <a:lstStyle/>
          <a:p>
            <a:pPr marL="12700">
              <a:lnSpc>
                <a:spcPct val="100000"/>
              </a:lnSpc>
            </a:pPr>
            <a:endParaRPr lang="en-GB" spc="-15" dirty="0"/>
          </a:p>
        </p:txBody>
      </p:sp>
      <p:sp>
        <p:nvSpPr>
          <p:cNvPr id="6" name="Slide Number Placeholder 5"/>
          <p:cNvSpPr>
            <a:spLocks noGrp="1"/>
          </p:cNvSpPr>
          <p:nvPr>
            <p:ph type="sldNum" sz="quarter" idx="12"/>
          </p:nvPr>
        </p:nvSpPr>
        <p:spPr/>
        <p:txBody>
          <a:bodyPr/>
          <a:lstStyle/>
          <a:p>
            <a:pPr marL="25400">
              <a:lnSpc>
                <a:spcPct val="100000"/>
              </a:lnSpc>
            </a:pPr>
            <a:fld id="{81D60167-4931-47E6-BA6A-407CBD079E47}" type="slidenum">
              <a:rPr lang="en-GB" smtClean="0"/>
              <a:pPr marL="25400">
                <a:lnSpc>
                  <a:spcPct val="100000"/>
                </a:lnSpc>
              </a:pPr>
              <a:t>‹#›</a:t>
            </a:fld>
            <a:endParaRPr lang="en-GB" dirty="0"/>
          </a:p>
        </p:txBody>
      </p:sp>
    </p:spTree>
    <p:extLst>
      <p:ext uri="{BB962C8B-B14F-4D97-AF65-F5344CB8AC3E}">
        <p14:creationId xmlns:p14="http://schemas.microsoft.com/office/powerpoint/2010/main" val="996672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10/2/2025</a:t>
            </a:fld>
            <a:endParaRPr lang="en-US"/>
          </a:p>
        </p:txBody>
      </p:sp>
      <p:sp>
        <p:nvSpPr>
          <p:cNvPr id="6" name="Footer Placeholder 5"/>
          <p:cNvSpPr>
            <a:spLocks noGrp="1"/>
          </p:cNvSpPr>
          <p:nvPr>
            <p:ph type="ftr" sz="quarter" idx="11"/>
          </p:nvPr>
        </p:nvSpPr>
        <p:spPr/>
        <p:txBody>
          <a:bodyPr/>
          <a:lstStyle/>
          <a:p>
            <a:pPr marL="12700">
              <a:lnSpc>
                <a:spcPct val="100000"/>
              </a:lnSpc>
            </a:pPr>
            <a:endParaRPr lang="en-GB" spc="-15" dirty="0"/>
          </a:p>
        </p:txBody>
      </p:sp>
      <p:sp>
        <p:nvSpPr>
          <p:cNvPr id="7" name="Slide Number Placeholder 6"/>
          <p:cNvSpPr>
            <a:spLocks noGrp="1"/>
          </p:cNvSpPr>
          <p:nvPr>
            <p:ph type="sldNum" sz="quarter" idx="12"/>
          </p:nvPr>
        </p:nvSpPr>
        <p:spPr/>
        <p:txBody>
          <a:bodyPr/>
          <a:lstStyle/>
          <a:p>
            <a:pPr marL="25400">
              <a:lnSpc>
                <a:spcPct val="100000"/>
              </a:lnSpc>
            </a:pPr>
            <a:fld id="{81D60167-4931-47E6-BA6A-407CBD079E47}" type="slidenum">
              <a:rPr lang="en-GB" smtClean="0"/>
              <a:pPr marL="25400">
                <a:lnSpc>
                  <a:spcPct val="100000"/>
                </a:lnSpc>
              </a:pPr>
              <a:t>‹#›</a:t>
            </a:fld>
            <a:endParaRPr lang="en-GB" dirty="0"/>
          </a:p>
        </p:txBody>
      </p:sp>
    </p:spTree>
    <p:extLst>
      <p:ext uri="{BB962C8B-B14F-4D97-AF65-F5344CB8AC3E}">
        <p14:creationId xmlns:p14="http://schemas.microsoft.com/office/powerpoint/2010/main" val="2247162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10/2/2025</a:t>
            </a:fld>
            <a:endParaRPr lang="en-US"/>
          </a:p>
        </p:txBody>
      </p:sp>
      <p:sp>
        <p:nvSpPr>
          <p:cNvPr id="8" name="Footer Placeholder 7"/>
          <p:cNvSpPr>
            <a:spLocks noGrp="1"/>
          </p:cNvSpPr>
          <p:nvPr>
            <p:ph type="ftr" sz="quarter" idx="11"/>
          </p:nvPr>
        </p:nvSpPr>
        <p:spPr/>
        <p:txBody>
          <a:bodyPr/>
          <a:lstStyle/>
          <a:p>
            <a:pPr marL="12700">
              <a:lnSpc>
                <a:spcPct val="100000"/>
              </a:lnSpc>
            </a:pPr>
            <a:endParaRPr lang="en-GB" spc="-15" dirty="0"/>
          </a:p>
        </p:txBody>
      </p:sp>
      <p:sp>
        <p:nvSpPr>
          <p:cNvPr id="9" name="Slide Number Placeholder 8"/>
          <p:cNvSpPr>
            <a:spLocks noGrp="1"/>
          </p:cNvSpPr>
          <p:nvPr>
            <p:ph type="sldNum" sz="quarter" idx="12"/>
          </p:nvPr>
        </p:nvSpPr>
        <p:spPr/>
        <p:txBody>
          <a:bodyPr/>
          <a:lstStyle/>
          <a:p>
            <a:pPr marL="25400">
              <a:lnSpc>
                <a:spcPct val="100000"/>
              </a:lnSpc>
            </a:pPr>
            <a:fld id="{81D60167-4931-47E6-BA6A-407CBD079E47}" type="slidenum">
              <a:rPr lang="en-GB" smtClean="0"/>
              <a:pPr marL="25400">
                <a:lnSpc>
                  <a:spcPct val="100000"/>
                </a:lnSpc>
              </a:pPr>
              <a:t>‹#›</a:t>
            </a:fld>
            <a:endParaRPr lang="en-GB" dirty="0"/>
          </a:p>
        </p:txBody>
      </p:sp>
    </p:spTree>
    <p:extLst>
      <p:ext uri="{BB962C8B-B14F-4D97-AF65-F5344CB8AC3E}">
        <p14:creationId xmlns:p14="http://schemas.microsoft.com/office/powerpoint/2010/main" val="2021181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10/2/2025</a:t>
            </a:fld>
            <a:endParaRPr lang="en-US"/>
          </a:p>
        </p:txBody>
      </p:sp>
      <p:sp>
        <p:nvSpPr>
          <p:cNvPr id="4" name="Footer Placeholder 3"/>
          <p:cNvSpPr>
            <a:spLocks noGrp="1"/>
          </p:cNvSpPr>
          <p:nvPr>
            <p:ph type="ftr" sz="quarter" idx="11"/>
          </p:nvPr>
        </p:nvSpPr>
        <p:spPr/>
        <p:txBody>
          <a:bodyPr/>
          <a:lstStyle/>
          <a:p>
            <a:pPr marL="12700">
              <a:lnSpc>
                <a:spcPct val="100000"/>
              </a:lnSpc>
            </a:pPr>
            <a:endParaRPr lang="en-GB" spc="-15" dirty="0"/>
          </a:p>
        </p:txBody>
      </p:sp>
      <p:sp>
        <p:nvSpPr>
          <p:cNvPr id="5" name="Slide Number Placeholder 4"/>
          <p:cNvSpPr>
            <a:spLocks noGrp="1"/>
          </p:cNvSpPr>
          <p:nvPr>
            <p:ph type="sldNum" sz="quarter" idx="12"/>
          </p:nvPr>
        </p:nvSpPr>
        <p:spPr/>
        <p:txBody>
          <a:bodyPr/>
          <a:lstStyle/>
          <a:p>
            <a:pPr marL="25400">
              <a:lnSpc>
                <a:spcPct val="100000"/>
              </a:lnSpc>
            </a:pPr>
            <a:fld id="{81D60167-4931-47E6-BA6A-407CBD079E47}" type="slidenum">
              <a:rPr lang="en-GB" smtClean="0"/>
              <a:pPr marL="25400">
                <a:lnSpc>
                  <a:spcPct val="100000"/>
                </a:lnSpc>
              </a:pPr>
              <a:t>‹#›</a:t>
            </a:fld>
            <a:endParaRPr lang="en-GB" dirty="0"/>
          </a:p>
        </p:txBody>
      </p:sp>
    </p:spTree>
    <p:extLst>
      <p:ext uri="{BB962C8B-B14F-4D97-AF65-F5344CB8AC3E}">
        <p14:creationId xmlns:p14="http://schemas.microsoft.com/office/powerpoint/2010/main" val="2258109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10/2/2025</a:t>
            </a:fld>
            <a:endParaRPr lang="en-US"/>
          </a:p>
        </p:txBody>
      </p:sp>
      <p:sp>
        <p:nvSpPr>
          <p:cNvPr id="3" name="Footer Placeholder 2"/>
          <p:cNvSpPr>
            <a:spLocks noGrp="1"/>
          </p:cNvSpPr>
          <p:nvPr>
            <p:ph type="ftr" sz="quarter" idx="11"/>
          </p:nvPr>
        </p:nvSpPr>
        <p:spPr/>
        <p:txBody>
          <a:bodyPr/>
          <a:lstStyle/>
          <a:p>
            <a:pPr marL="12700">
              <a:lnSpc>
                <a:spcPct val="100000"/>
              </a:lnSpc>
            </a:pPr>
            <a:endParaRPr lang="en-GB" spc="-15" dirty="0"/>
          </a:p>
        </p:txBody>
      </p:sp>
      <p:sp>
        <p:nvSpPr>
          <p:cNvPr id="4" name="Slide Number Placeholder 3"/>
          <p:cNvSpPr>
            <a:spLocks noGrp="1"/>
          </p:cNvSpPr>
          <p:nvPr>
            <p:ph type="sldNum" sz="quarter" idx="12"/>
          </p:nvPr>
        </p:nvSpPr>
        <p:spPr/>
        <p:txBody>
          <a:bodyPr/>
          <a:lstStyle/>
          <a:p>
            <a:pPr marL="25400">
              <a:lnSpc>
                <a:spcPct val="100000"/>
              </a:lnSpc>
            </a:pPr>
            <a:fld id="{81D60167-4931-47E6-BA6A-407CBD079E47}" type="slidenum">
              <a:rPr lang="en-GB" smtClean="0"/>
              <a:pPr marL="25400">
                <a:lnSpc>
                  <a:spcPct val="100000"/>
                </a:lnSpc>
              </a:pPr>
              <a:t>‹#›</a:t>
            </a:fld>
            <a:endParaRPr lang="en-GB" dirty="0"/>
          </a:p>
        </p:txBody>
      </p:sp>
    </p:spTree>
    <p:extLst>
      <p:ext uri="{BB962C8B-B14F-4D97-AF65-F5344CB8AC3E}">
        <p14:creationId xmlns:p14="http://schemas.microsoft.com/office/powerpoint/2010/main" val="905208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10/2/2025</a:t>
            </a:fld>
            <a:endParaRPr lang="en-US"/>
          </a:p>
        </p:txBody>
      </p:sp>
      <p:sp>
        <p:nvSpPr>
          <p:cNvPr id="6" name="Footer Placeholder 5"/>
          <p:cNvSpPr>
            <a:spLocks noGrp="1"/>
          </p:cNvSpPr>
          <p:nvPr>
            <p:ph type="ftr" sz="quarter" idx="11"/>
          </p:nvPr>
        </p:nvSpPr>
        <p:spPr/>
        <p:txBody>
          <a:bodyPr/>
          <a:lstStyle/>
          <a:p>
            <a:pPr marL="12700">
              <a:lnSpc>
                <a:spcPct val="100000"/>
              </a:lnSpc>
            </a:pPr>
            <a:endParaRPr lang="en-GB" spc="-15" dirty="0"/>
          </a:p>
        </p:txBody>
      </p:sp>
      <p:sp>
        <p:nvSpPr>
          <p:cNvPr id="7" name="Slide Number Placeholder 6"/>
          <p:cNvSpPr>
            <a:spLocks noGrp="1"/>
          </p:cNvSpPr>
          <p:nvPr>
            <p:ph type="sldNum" sz="quarter" idx="12"/>
          </p:nvPr>
        </p:nvSpPr>
        <p:spPr/>
        <p:txBody>
          <a:bodyPr/>
          <a:lstStyle/>
          <a:p>
            <a:pPr marL="25400">
              <a:lnSpc>
                <a:spcPct val="100000"/>
              </a:lnSpc>
            </a:pPr>
            <a:fld id="{81D60167-4931-47E6-BA6A-407CBD079E47}" type="slidenum">
              <a:rPr lang="en-GB" smtClean="0"/>
              <a:pPr marL="25400">
                <a:lnSpc>
                  <a:spcPct val="100000"/>
                </a:lnSpc>
              </a:pPr>
              <a:t>‹#›</a:t>
            </a:fld>
            <a:endParaRPr lang="en-GB" dirty="0"/>
          </a:p>
        </p:txBody>
      </p:sp>
    </p:spTree>
    <p:extLst>
      <p:ext uri="{BB962C8B-B14F-4D97-AF65-F5344CB8AC3E}">
        <p14:creationId xmlns:p14="http://schemas.microsoft.com/office/powerpoint/2010/main" val="2878933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10/2/2025</a:t>
            </a:fld>
            <a:endParaRPr lang="en-US"/>
          </a:p>
        </p:txBody>
      </p:sp>
      <p:sp>
        <p:nvSpPr>
          <p:cNvPr id="6" name="Footer Placeholder 5"/>
          <p:cNvSpPr>
            <a:spLocks noGrp="1"/>
          </p:cNvSpPr>
          <p:nvPr>
            <p:ph type="ftr" sz="quarter" idx="11"/>
          </p:nvPr>
        </p:nvSpPr>
        <p:spPr/>
        <p:txBody>
          <a:bodyPr/>
          <a:lstStyle/>
          <a:p>
            <a:pPr marL="12700">
              <a:lnSpc>
                <a:spcPct val="100000"/>
              </a:lnSpc>
            </a:pPr>
            <a:endParaRPr lang="en-GB" spc="-15" dirty="0"/>
          </a:p>
        </p:txBody>
      </p:sp>
      <p:sp>
        <p:nvSpPr>
          <p:cNvPr id="7" name="Slide Number Placeholder 6"/>
          <p:cNvSpPr>
            <a:spLocks noGrp="1"/>
          </p:cNvSpPr>
          <p:nvPr>
            <p:ph type="sldNum" sz="quarter" idx="12"/>
          </p:nvPr>
        </p:nvSpPr>
        <p:spPr/>
        <p:txBody>
          <a:bodyPr/>
          <a:lstStyle/>
          <a:p>
            <a:pPr marL="25400">
              <a:lnSpc>
                <a:spcPct val="100000"/>
              </a:lnSpc>
            </a:pPr>
            <a:fld id="{81D60167-4931-47E6-BA6A-407CBD079E47}" type="slidenum">
              <a:rPr lang="en-GB" smtClean="0"/>
              <a:pPr marL="25400">
                <a:lnSpc>
                  <a:spcPct val="100000"/>
                </a:lnSpc>
              </a:pPr>
              <a:t>‹#›</a:t>
            </a:fld>
            <a:endParaRPr lang="en-GB" dirty="0"/>
          </a:p>
        </p:txBody>
      </p:sp>
    </p:spTree>
    <p:extLst>
      <p:ext uri="{BB962C8B-B14F-4D97-AF65-F5344CB8AC3E}">
        <p14:creationId xmlns:p14="http://schemas.microsoft.com/office/powerpoint/2010/main" val="39564458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10/2/2025</a:t>
            </a:fld>
            <a:endParaRPr lang="en-US"/>
          </a:p>
        </p:txBody>
      </p:sp>
      <p:sp>
        <p:nvSpPr>
          <p:cNvPr id="5" name="Footer Placeholder 4"/>
          <p:cNvSpPr>
            <a:spLocks noGrp="1"/>
          </p:cNvSpPr>
          <p:nvPr>
            <p:ph type="ftr" sz="quarter" idx="11"/>
          </p:nvPr>
        </p:nvSpPr>
        <p:spPr/>
        <p:txBody>
          <a:bodyPr/>
          <a:lstStyle/>
          <a:p>
            <a:pPr marL="12700">
              <a:lnSpc>
                <a:spcPct val="100000"/>
              </a:lnSpc>
            </a:pPr>
            <a:endParaRPr lang="en-GB" spc="-15" dirty="0"/>
          </a:p>
        </p:txBody>
      </p:sp>
      <p:sp>
        <p:nvSpPr>
          <p:cNvPr id="6" name="Slide Number Placeholder 5"/>
          <p:cNvSpPr>
            <a:spLocks noGrp="1"/>
          </p:cNvSpPr>
          <p:nvPr>
            <p:ph type="sldNum" sz="quarter" idx="12"/>
          </p:nvPr>
        </p:nvSpPr>
        <p:spPr/>
        <p:txBody>
          <a:bodyPr/>
          <a:lstStyle/>
          <a:p>
            <a:pPr marL="25400">
              <a:lnSpc>
                <a:spcPct val="100000"/>
              </a:lnSpc>
            </a:pPr>
            <a:fld id="{81D60167-4931-47E6-BA6A-407CBD079E47}" type="slidenum">
              <a:rPr lang="en-GB" smtClean="0"/>
              <a:pPr marL="25400">
                <a:lnSpc>
                  <a:spcPct val="100000"/>
                </a:lnSpc>
              </a:pPr>
              <a:t>‹#›</a:t>
            </a:fld>
            <a:endParaRPr lang="en-GB" dirty="0"/>
          </a:p>
        </p:txBody>
      </p:sp>
    </p:spTree>
    <p:extLst>
      <p:ext uri="{BB962C8B-B14F-4D97-AF65-F5344CB8AC3E}">
        <p14:creationId xmlns:p14="http://schemas.microsoft.com/office/powerpoint/2010/main" val="3934562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10/2/2025</a:t>
            </a:fld>
            <a:endParaRPr lang="en-US"/>
          </a:p>
        </p:txBody>
      </p:sp>
      <p:sp>
        <p:nvSpPr>
          <p:cNvPr id="5" name="Footer Placeholder 4"/>
          <p:cNvSpPr>
            <a:spLocks noGrp="1"/>
          </p:cNvSpPr>
          <p:nvPr>
            <p:ph type="ftr" sz="quarter" idx="11"/>
          </p:nvPr>
        </p:nvSpPr>
        <p:spPr/>
        <p:txBody>
          <a:bodyPr/>
          <a:lstStyle/>
          <a:p>
            <a:pPr marL="12700">
              <a:lnSpc>
                <a:spcPct val="100000"/>
              </a:lnSpc>
            </a:pPr>
            <a:endParaRPr lang="en-GB" spc="-15" dirty="0"/>
          </a:p>
        </p:txBody>
      </p:sp>
      <p:sp>
        <p:nvSpPr>
          <p:cNvPr id="6" name="Slide Number Placeholder 5"/>
          <p:cNvSpPr>
            <a:spLocks noGrp="1"/>
          </p:cNvSpPr>
          <p:nvPr>
            <p:ph type="sldNum" sz="quarter" idx="12"/>
          </p:nvPr>
        </p:nvSpPr>
        <p:spPr/>
        <p:txBody>
          <a:bodyPr/>
          <a:lstStyle/>
          <a:p>
            <a:pPr marL="25400">
              <a:lnSpc>
                <a:spcPct val="100000"/>
              </a:lnSpc>
            </a:pPr>
            <a:fld id="{81D60167-4931-47E6-BA6A-407CBD079E47}" type="slidenum">
              <a:rPr lang="en-GB" smtClean="0"/>
              <a:pPr marL="25400">
                <a:lnSpc>
                  <a:spcPct val="100000"/>
                </a:lnSpc>
              </a:pPr>
              <a:t>‹#›</a:t>
            </a:fld>
            <a:endParaRPr lang="en-GB"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62757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10/2/2025</a:t>
            </a:fld>
            <a:endParaRPr lang="en-US"/>
          </a:p>
        </p:txBody>
      </p:sp>
      <p:sp>
        <p:nvSpPr>
          <p:cNvPr id="5" name="Footer Placeholder 4"/>
          <p:cNvSpPr>
            <a:spLocks noGrp="1"/>
          </p:cNvSpPr>
          <p:nvPr>
            <p:ph type="ftr" sz="quarter" idx="11"/>
          </p:nvPr>
        </p:nvSpPr>
        <p:spPr/>
        <p:txBody>
          <a:bodyPr/>
          <a:lstStyle/>
          <a:p>
            <a:pPr marL="12700">
              <a:lnSpc>
                <a:spcPct val="100000"/>
              </a:lnSpc>
            </a:pPr>
            <a:endParaRPr lang="en-GB" spc="-15" dirty="0"/>
          </a:p>
        </p:txBody>
      </p:sp>
      <p:sp>
        <p:nvSpPr>
          <p:cNvPr id="6" name="Slide Number Placeholder 5"/>
          <p:cNvSpPr>
            <a:spLocks noGrp="1"/>
          </p:cNvSpPr>
          <p:nvPr>
            <p:ph type="sldNum" sz="quarter" idx="12"/>
          </p:nvPr>
        </p:nvSpPr>
        <p:spPr/>
        <p:txBody>
          <a:bodyPr/>
          <a:lstStyle/>
          <a:p>
            <a:pPr marL="25400">
              <a:lnSpc>
                <a:spcPct val="100000"/>
              </a:lnSpc>
            </a:pPr>
            <a:fld id="{81D60167-4931-47E6-BA6A-407CBD079E47}" type="slidenum">
              <a:rPr lang="en-GB" smtClean="0"/>
              <a:pPr marL="25400">
                <a:lnSpc>
                  <a:spcPct val="100000"/>
                </a:lnSpc>
              </a:pPr>
              <a:t>‹#›</a:t>
            </a:fld>
            <a:endParaRPr lang="en-GB" dirty="0"/>
          </a:p>
        </p:txBody>
      </p:sp>
    </p:spTree>
    <p:extLst>
      <p:ext uri="{BB962C8B-B14F-4D97-AF65-F5344CB8AC3E}">
        <p14:creationId xmlns:p14="http://schemas.microsoft.com/office/powerpoint/2010/main" val="2359502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10/2/2025</a:t>
            </a:fld>
            <a:endParaRPr lang="en-US"/>
          </a:p>
        </p:txBody>
      </p:sp>
      <p:sp>
        <p:nvSpPr>
          <p:cNvPr id="5" name="Footer Placeholder 4"/>
          <p:cNvSpPr>
            <a:spLocks noGrp="1"/>
          </p:cNvSpPr>
          <p:nvPr>
            <p:ph type="ftr" sz="quarter" idx="11"/>
          </p:nvPr>
        </p:nvSpPr>
        <p:spPr/>
        <p:txBody>
          <a:bodyPr/>
          <a:lstStyle/>
          <a:p>
            <a:pPr marL="12700">
              <a:lnSpc>
                <a:spcPct val="100000"/>
              </a:lnSpc>
            </a:pPr>
            <a:endParaRPr lang="en-GB" spc="-15" dirty="0"/>
          </a:p>
        </p:txBody>
      </p:sp>
      <p:sp>
        <p:nvSpPr>
          <p:cNvPr id="6" name="Slide Number Placeholder 5"/>
          <p:cNvSpPr>
            <a:spLocks noGrp="1"/>
          </p:cNvSpPr>
          <p:nvPr>
            <p:ph type="sldNum" sz="quarter" idx="12"/>
          </p:nvPr>
        </p:nvSpPr>
        <p:spPr/>
        <p:txBody>
          <a:bodyPr/>
          <a:lstStyle/>
          <a:p>
            <a:pPr marL="25400">
              <a:lnSpc>
                <a:spcPct val="100000"/>
              </a:lnSpc>
            </a:pPr>
            <a:fld id="{81D60167-4931-47E6-BA6A-407CBD079E47}" type="slidenum">
              <a:rPr lang="en-GB" smtClean="0"/>
              <a:pPr marL="25400">
                <a:lnSpc>
                  <a:spcPct val="100000"/>
                </a:lnSpc>
              </a:pPr>
              <a:t>‹#›</a:t>
            </a:fld>
            <a:endParaRPr lang="en-GB"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50290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10/2/2025</a:t>
            </a:fld>
            <a:endParaRPr lang="en-US"/>
          </a:p>
        </p:txBody>
      </p:sp>
      <p:sp>
        <p:nvSpPr>
          <p:cNvPr id="5" name="Footer Placeholder 4"/>
          <p:cNvSpPr>
            <a:spLocks noGrp="1"/>
          </p:cNvSpPr>
          <p:nvPr>
            <p:ph type="ftr" sz="quarter" idx="11"/>
          </p:nvPr>
        </p:nvSpPr>
        <p:spPr/>
        <p:txBody>
          <a:bodyPr/>
          <a:lstStyle/>
          <a:p>
            <a:pPr marL="12700">
              <a:lnSpc>
                <a:spcPct val="100000"/>
              </a:lnSpc>
            </a:pPr>
            <a:endParaRPr lang="en-GB" spc="-15" dirty="0"/>
          </a:p>
        </p:txBody>
      </p:sp>
      <p:sp>
        <p:nvSpPr>
          <p:cNvPr id="6" name="Slide Number Placeholder 5"/>
          <p:cNvSpPr>
            <a:spLocks noGrp="1"/>
          </p:cNvSpPr>
          <p:nvPr>
            <p:ph type="sldNum" sz="quarter" idx="12"/>
          </p:nvPr>
        </p:nvSpPr>
        <p:spPr/>
        <p:txBody>
          <a:bodyPr/>
          <a:lstStyle/>
          <a:p>
            <a:pPr marL="25400">
              <a:lnSpc>
                <a:spcPct val="100000"/>
              </a:lnSpc>
            </a:pPr>
            <a:fld id="{81D60167-4931-47E6-BA6A-407CBD079E47}" type="slidenum">
              <a:rPr lang="en-GB" smtClean="0"/>
              <a:pPr marL="25400">
                <a:lnSpc>
                  <a:spcPct val="100000"/>
                </a:lnSpc>
              </a:pPr>
              <a:t>‹#›</a:t>
            </a:fld>
            <a:endParaRPr lang="en-GB" dirty="0"/>
          </a:p>
        </p:txBody>
      </p:sp>
    </p:spTree>
    <p:extLst>
      <p:ext uri="{BB962C8B-B14F-4D97-AF65-F5344CB8AC3E}">
        <p14:creationId xmlns:p14="http://schemas.microsoft.com/office/powerpoint/2010/main" val="37776798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10/2/2025</a:t>
            </a:fld>
            <a:endParaRPr lang="en-US"/>
          </a:p>
        </p:txBody>
      </p:sp>
      <p:sp>
        <p:nvSpPr>
          <p:cNvPr id="5" name="Footer Placeholder 4"/>
          <p:cNvSpPr>
            <a:spLocks noGrp="1"/>
          </p:cNvSpPr>
          <p:nvPr>
            <p:ph type="ftr" sz="quarter" idx="11"/>
          </p:nvPr>
        </p:nvSpPr>
        <p:spPr/>
        <p:txBody>
          <a:bodyPr/>
          <a:lstStyle/>
          <a:p>
            <a:pPr marL="12700">
              <a:lnSpc>
                <a:spcPct val="100000"/>
              </a:lnSpc>
            </a:pPr>
            <a:endParaRPr lang="en-GB" spc="-15" dirty="0"/>
          </a:p>
        </p:txBody>
      </p:sp>
      <p:sp>
        <p:nvSpPr>
          <p:cNvPr id="6" name="Slide Number Placeholder 5"/>
          <p:cNvSpPr>
            <a:spLocks noGrp="1"/>
          </p:cNvSpPr>
          <p:nvPr>
            <p:ph type="sldNum" sz="quarter" idx="12"/>
          </p:nvPr>
        </p:nvSpPr>
        <p:spPr/>
        <p:txBody>
          <a:bodyPr/>
          <a:lstStyle/>
          <a:p>
            <a:pPr marL="25400">
              <a:lnSpc>
                <a:spcPct val="100000"/>
              </a:lnSpc>
            </a:pPr>
            <a:fld id="{81D60167-4931-47E6-BA6A-407CBD079E47}" type="slidenum">
              <a:rPr lang="en-GB" smtClean="0"/>
              <a:pPr marL="25400">
                <a:lnSpc>
                  <a:spcPct val="100000"/>
                </a:lnSpc>
              </a:pPr>
              <a:t>‹#›</a:t>
            </a:fld>
            <a:endParaRPr lang="en-GB" dirty="0"/>
          </a:p>
        </p:txBody>
      </p:sp>
    </p:spTree>
    <p:extLst>
      <p:ext uri="{BB962C8B-B14F-4D97-AF65-F5344CB8AC3E}">
        <p14:creationId xmlns:p14="http://schemas.microsoft.com/office/powerpoint/2010/main" val="32537351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10/2/2025</a:t>
            </a:fld>
            <a:endParaRPr lang="en-US"/>
          </a:p>
        </p:txBody>
      </p:sp>
      <p:sp>
        <p:nvSpPr>
          <p:cNvPr id="5" name="Footer Placeholder 4"/>
          <p:cNvSpPr>
            <a:spLocks noGrp="1"/>
          </p:cNvSpPr>
          <p:nvPr>
            <p:ph type="ftr" sz="quarter" idx="11"/>
          </p:nvPr>
        </p:nvSpPr>
        <p:spPr/>
        <p:txBody>
          <a:bodyPr/>
          <a:lstStyle/>
          <a:p>
            <a:pPr marL="12700">
              <a:lnSpc>
                <a:spcPct val="100000"/>
              </a:lnSpc>
            </a:pPr>
            <a:endParaRPr lang="en-GB" spc="-15" dirty="0"/>
          </a:p>
        </p:txBody>
      </p:sp>
      <p:sp>
        <p:nvSpPr>
          <p:cNvPr id="6" name="Slide Number Placeholder 5"/>
          <p:cNvSpPr>
            <a:spLocks noGrp="1"/>
          </p:cNvSpPr>
          <p:nvPr>
            <p:ph type="sldNum" sz="quarter" idx="12"/>
          </p:nvPr>
        </p:nvSpPr>
        <p:spPr/>
        <p:txBody>
          <a:bodyPr/>
          <a:lstStyle/>
          <a:p>
            <a:pPr marL="25400">
              <a:lnSpc>
                <a:spcPct val="100000"/>
              </a:lnSpc>
            </a:pPr>
            <a:fld id="{81D60167-4931-47E6-BA6A-407CBD079E47}" type="slidenum">
              <a:rPr lang="en-GB" smtClean="0"/>
              <a:pPr marL="25400">
                <a:lnSpc>
                  <a:spcPct val="100000"/>
                </a:lnSpc>
              </a:pPr>
              <a:t>‹#›</a:t>
            </a:fld>
            <a:endParaRPr lang="en-GB" dirty="0"/>
          </a:p>
        </p:txBody>
      </p:sp>
    </p:spTree>
    <p:extLst>
      <p:ext uri="{BB962C8B-B14F-4D97-AF65-F5344CB8AC3E}">
        <p14:creationId xmlns:p14="http://schemas.microsoft.com/office/powerpoint/2010/main" val="1790981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pPr/>
              <a:t>10/2/2025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marL="12700">
              <a:lnSpc>
                <a:spcPct val="100000"/>
              </a:lnSpc>
            </a:pPr>
            <a:endParaRPr lang="en-GB" spc="-15" dirty="0"/>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pPr marL="25400">
              <a:lnSpc>
                <a:spcPct val="100000"/>
              </a:lnSpc>
            </a:pPr>
            <a:fld id="{81D60167-4931-47E6-BA6A-407CBD079E47}" type="slidenum">
              <a:rPr lang="en-GB" smtClean="0"/>
              <a:pPr marL="25400">
                <a:lnSpc>
                  <a:spcPct val="100000"/>
                </a:lnSpc>
              </a:pPr>
              <a:t>‹#›</a:t>
            </a:fld>
            <a:endParaRPr lang="en-GB" dirty="0"/>
          </a:p>
        </p:txBody>
      </p:sp>
      <p:sp>
        <p:nvSpPr>
          <p:cNvPr id="18" name="Rectangle 17"/>
          <p:cNvSpPr/>
          <p:nvPr userDrawn="1"/>
        </p:nvSpPr>
        <p:spPr>
          <a:xfrm>
            <a:off x="0" y="0"/>
            <a:ext cx="9144000" cy="2286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a:off x="0" y="6629400"/>
            <a:ext cx="9144000" cy="2286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Holder 4"/>
          <p:cNvSpPr txBox="1">
            <a:spLocks/>
          </p:cNvSpPr>
          <p:nvPr userDrawn="1"/>
        </p:nvSpPr>
        <p:spPr>
          <a:xfrm>
            <a:off x="152400" y="6629400"/>
            <a:ext cx="4674235" cy="153888"/>
          </a:xfrm>
          <a:prstGeom prst="rect">
            <a:avLst/>
          </a:prstGeom>
        </p:spPr>
        <p:txBody>
          <a:bodyPr wrap="square" lIns="0" tIns="0" rIns="0" bIns="0">
            <a:spAutoFit/>
          </a:bodyPr>
          <a:lstStyle>
            <a:lvl1pPr>
              <a:defRPr sz="1000" b="0" i="0">
                <a:solidFill>
                  <a:schemeClr val="bg1"/>
                </a:solidFill>
                <a:latin typeface="Arial"/>
                <a:cs typeface="Arial"/>
              </a:defRPr>
            </a:lvl1p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10" normalizeH="0" baseline="0" noProof="0" dirty="0">
                <a:ln>
                  <a:noFill/>
                </a:ln>
                <a:solidFill>
                  <a:schemeClr val="bg1"/>
                </a:solidFill>
                <a:effectLst/>
                <a:uLnTx/>
                <a:uFillTx/>
                <a:latin typeface="Arial"/>
                <a:ea typeface="+mn-ea"/>
                <a:cs typeface="Arial"/>
              </a:rPr>
              <a:t>©</a:t>
            </a:r>
            <a:r>
              <a:rPr kumimoji="0" lang="de-DE" sz="1000" b="0" i="0" u="none" strike="noStrike" kern="1200" cap="none" spc="20" normalizeH="0" baseline="0" noProof="0" dirty="0">
                <a:ln>
                  <a:noFill/>
                </a:ln>
                <a:solidFill>
                  <a:schemeClr val="bg1"/>
                </a:solidFill>
                <a:effectLst/>
                <a:uLnTx/>
                <a:uFillTx/>
                <a:latin typeface="Times New Roman"/>
                <a:ea typeface="+mn-ea"/>
                <a:cs typeface="Times New Roman"/>
              </a:rPr>
              <a:t> </a:t>
            </a:r>
            <a:r>
              <a:rPr kumimoji="0" lang="de-DE" sz="1000" b="0" i="0" u="none" strike="noStrike" kern="1200" cap="none" spc="-10" normalizeH="0" baseline="0" noProof="0" dirty="0">
                <a:ln>
                  <a:noFill/>
                </a:ln>
                <a:solidFill>
                  <a:schemeClr val="bg1"/>
                </a:solidFill>
                <a:effectLst/>
                <a:uLnTx/>
                <a:uFillTx/>
                <a:latin typeface="Arial"/>
                <a:ea typeface="+mn-ea"/>
                <a:cs typeface="Arial"/>
              </a:rPr>
              <a:t>Faculty of Computing and Information Management</a:t>
            </a:r>
            <a:r>
              <a:rPr kumimoji="0" lang="de-DE" sz="1000" b="0" i="0" u="none" strike="noStrike" kern="1200" cap="none" spc="-5" normalizeH="0" baseline="0" noProof="0" dirty="0">
                <a:ln>
                  <a:noFill/>
                </a:ln>
                <a:solidFill>
                  <a:schemeClr val="bg1"/>
                </a:solidFill>
                <a:effectLst/>
                <a:uLnTx/>
                <a:uFillTx/>
                <a:latin typeface="Arial"/>
                <a:ea typeface="+mn-ea"/>
                <a:cs typeface="Arial"/>
              </a:rPr>
              <a:t>,</a:t>
            </a:r>
            <a:r>
              <a:rPr kumimoji="0" lang="de-DE" sz="1000" b="0" i="0" u="none" strike="noStrike" kern="1200" cap="none" spc="-15" normalizeH="0" baseline="0" noProof="0" dirty="0">
                <a:ln>
                  <a:noFill/>
                </a:ln>
                <a:solidFill>
                  <a:schemeClr val="bg1"/>
                </a:solidFill>
                <a:effectLst/>
                <a:uLnTx/>
                <a:uFillTx/>
                <a:latin typeface="Times New Roman"/>
                <a:ea typeface="+mn-ea"/>
                <a:cs typeface="Times New Roman"/>
              </a:rPr>
              <a:t> KCA </a:t>
            </a:r>
            <a:r>
              <a:rPr kumimoji="0" lang="de-DE" sz="1000" b="0" i="0" u="none" strike="noStrike" kern="1200" cap="none" spc="-10" normalizeH="0" baseline="0" noProof="0" dirty="0">
                <a:ln>
                  <a:noFill/>
                </a:ln>
                <a:solidFill>
                  <a:schemeClr val="bg1"/>
                </a:solidFill>
                <a:effectLst/>
                <a:uLnTx/>
                <a:uFillTx/>
                <a:latin typeface="Arial"/>
                <a:ea typeface="+mn-ea"/>
                <a:cs typeface="Arial"/>
              </a:rPr>
              <a:t>U</a:t>
            </a:r>
            <a:r>
              <a:rPr kumimoji="0" lang="de-DE" sz="1000" b="0" i="0" u="none" strike="noStrike" kern="1200" cap="none" spc="-15" normalizeH="0" baseline="0" noProof="0" dirty="0">
                <a:ln>
                  <a:noFill/>
                </a:ln>
                <a:solidFill>
                  <a:schemeClr val="bg1"/>
                </a:solidFill>
                <a:effectLst/>
                <a:uLnTx/>
                <a:uFillTx/>
                <a:latin typeface="Arial"/>
                <a:ea typeface="+mn-ea"/>
                <a:cs typeface="Arial"/>
              </a:rPr>
              <a:t>nive</a:t>
            </a:r>
            <a:r>
              <a:rPr kumimoji="0" lang="de-DE" sz="1000" b="0" i="0" u="none" strike="noStrike" kern="1200" cap="none" spc="-5" normalizeH="0" baseline="0" noProof="0" dirty="0">
                <a:ln>
                  <a:noFill/>
                </a:ln>
                <a:solidFill>
                  <a:schemeClr val="bg1"/>
                </a:solidFill>
                <a:effectLst/>
                <a:uLnTx/>
                <a:uFillTx/>
                <a:latin typeface="Arial"/>
                <a:ea typeface="+mn-ea"/>
                <a:cs typeface="Arial"/>
              </a:rPr>
              <a:t>r</a:t>
            </a:r>
            <a:r>
              <a:rPr kumimoji="0" lang="de-DE" sz="1000" b="0" i="0" u="none" strike="noStrike" kern="1200" cap="none" spc="0" normalizeH="0" baseline="0" noProof="0" dirty="0">
                <a:ln>
                  <a:noFill/>
                </a:ln>
                <a:solidFill>
                  <a:schemeClr val="bg1"/>
                </a:solidFill>
                <a:effectLst/>
                <a:uLnTx/>
                <a:uFillTx/>
                <a:latin typeface="Arial"/>
                <a:ea typeface="+mn-ea"/>
                <a:cs typeface="Arial"/>
              </a:rPr>
              <a:t>s</a:t>
            </a:r>
            <a:r>
              <a:rPr kumimoji="0" lang="de-DE" sz="1000" b="0" i="0" u="none" strike="noStrike" kern="1200" cap="none" spc="-15" normalizeH="0" baseline="0" noProof="0" dirty="0">
                <a:ln>
                  <a:noFill/>
                </a:ln>
                <a:solidFill>
                  <a:schemeClr val="bg1"/>
                </a:solidFill>
                <a:effectLst/>
                <a:uLnTx/>
                <a:uFillTx/>
                <a:latin typeface="Arial"/>
                <a:ea typeface="+mn-ea"/>
                <a:cs typeface="Arial"/>
              </a:rPr>
              <a:t>i</a:t>
            </a:r>
            <a:r>
              <a:rPr kumimoji="0" lang="de-DE" sz="1000" b="0" i="0" u="none" strike="noStrike" kern="1200" cap="none" spc="-10" normalizeH="0" baseline="0" noProof="0" dirty="0">
                <a:ln>
                  <a:noFill/>
                </a:ln>
                <a:solidFill>
                  <a:schemeClr val="bg1"/>
                </a:solidFill>
                <a:effectLst/>
                <a:uLnTx/>
                <a:uFillTx/>
                <a:latin typeface="Arial"/>
                <a:ea typeface="+mn-ea"/>
                <a:cs typeface="Arial"/>
              </a:rPr>
              <a:t>ty</a:t>
            </a:r>
            <a:endParaRPr kumimoji="0" lang="de-DE" sz="1000" b="0" i="0" u="none" strike="noStrike" kern="1200" cap="none" spc="-15" normalizeH="0" baseline="0" noProof="0" dirty="0">
              <a:ln>
                <a:noFill/>
              </a:ln>
              <a:solidFill>
                <a:schemeClr val="bg1"/>
              </a:solidFill>
              <a:effectLst/>
              <a:uLnTx/>
              <a:uFillTx/>
              <a:latin typeface="Arial"/>
              <a:ea typeface="+mn-ea"/>
              <a:cs typeface="Arial"/>
            </a:endParaRPr>
          </a:p>
        </p:txBody>
      </p:sp>
      <p:cxnSp>
        <p:nvCxnSpPr>
          <p:cNvPr id="21" name="Straight Connector 20"/>
          <p:cNvCxnSpPr/>
          <p:nvPr userDrawn="1"/>
        </p:nvCxnSpPr>
        <p:spPr>
          <a:xfrm>
            <a:off x="0" y="1219200"/>
            <a:ext cx="9144000"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206558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266700" y="2994466"/>
            <a:ext cx="8610600" cy="3422475"/>
          </a:xfrm>
          <a:prstGeom prst="rect">
            <a:avLst/>
          </a:prstGeom>
        </p:spPr>
        <p:txBody>
          <a:bodyPr vert="horz" wrap="square" lIns="0" tIns="0" rIns="0" bIns="0" rtlCol="0">
            <a:spAutoFit/>
          </a:bodyPr>
          <a:lstStyle/>
          <a:p>
            <a:r>
              <a:rPr lang="en-US" sz="2800" b="1" dirty="0">
                <a:solidFill>
                  <a:srgbClr val="0070C0"/>
                </a:solidFill>
                <a:cs typeface="Times New Roman" panose="02020603050405020304" pitchFamily="18" charset="0"/>
              </a:rPr>
              <a:t>Unit : BSD 3208 Ambient Intelligence</a:t>
            </a:r>
          </a:p>
          <a:p>
            <a:endParaRPr lang="en-GB" sz="2800" b="1" dirty="0">
              <a:solidFill>
                <a:srgbClr val="0070C0"/>
              </a:solidFill>
              <a:cs typeface="Times New Roman" panose="02020603050405020304" pitchFamily="18" charset="0"/>
            </a:endParaRPr>
          </a:p>
          <a:p>
            <a:endParaRPr lang="en-GB" sz="2800" b="1" dirty="0">
              <a:solidFill>
                <a:srgbClr val="0070C0"/>
              </a:solidFill>
              <a:cs typeface="Times New Roman" panose="02020603050405020304" pitchFamily="18" charset="0"/>
            </a:endParaRPr>
          </a:p>
          <a:p>
            <a:endParaRPr lang="en-GB" sz="2800" b="1" dirty="0">
              <a:solidFill>
                <a:srgbClr val="0070C0"/>
              </a:solidFill>
              <a:cs typeface="Times New Roman" panose="02020603050405020304" pitchFamily="18" charset="0"/>
            </a:endParaRPr>
          </a:p>
          <a:p>
            <a:endParaRPr lang="en-GB" sz="2800" b="1" dirty="0">
              <a:solidFill>
                <a:srgbClr val="0070C0"/>
              </a:solidFill>
              <a:cs typeface="Times New Roman" panose="02020603050405020304" pitchFamily="18" charset="0"/>
            </a:endParaRPr>
          </a:p>
          <a:p>
            <a:endParaRPr lang="en-GB" sz="2800" b="1" dirty="0">
              <a:solidFill>
                <a:srgbClr val="0070C0"/>
              </a:solidFill>
              <a:cs typeface="Times New Roman" panose="02020603050405020304" pitchFamily="18" charset="0"/>
            </a:endParaRPr>
          </a:p>
          <a:p>
            <a:pPr algn="ctr"/>
            <a:r>
              <a:rPr lang="en-GB" b="1" dirty="0">
                <a:solidFill>
                  <a:srgbClr val="0070C0"/>
                </a:solidFill>
                <a:cs typeface="Times New Roman" panose="02020603050405020304" pitchFamily="18" charset="0"/>
              </a:rPr>
              <a:t>Lecturer: Jane </a:t>
            </a:r>
            <a:r>
              <a:rPr lang="en-GB" b="1" dirty="0" err="1">
                <a:solidFill>
                  <a:srgbClr val="0070C0"/>
                </a:solidFill>
                <a:cs typeface="Times New Roman" panose="02020603050405020304" pitchFamily="18" charset="0"/>
              </a:rPr>
              <a:t>Masaa</a:t>
            </a:r>
            <a:endParaRPr lang="en-US" b="1" dirty="0">
              <a:solidFill>
                <a:srgbClr val="0070C0"/>
              </a:solidFill>
              <a:cs typeface="Times New Roman" panose="02020603050405020304" pitchFamily="18" charset="0"/>
            </a:endParaRPr>
          </a:p>
          <a:p>
            <a:pPr marL="12700" marR="407670" algn="ctr">
              <a:lnSpc>
                <a:spcPct val="120000"/>
              </a:lnSpc>
            </a:pPr>
            <a:endParaRPr lang="en-US" sz="1600" b="1" spc="-5" dirty="0">
              <a:latin typeface="Times New Roman" panose="02020603050405020304" pitchFamily="18" charset="0"/>
              <a:cs typeface="Times New Roman" panose="02020603050405020304" pitchFamily="18" charset="0"/>
            </a:endParaRPr>
          </a:p>
          <a:p>
            <a:pPr marL="469900" marR="407670" lvl="1">
              <a:lnSpc>
                <a:spcPct val="120000"/>
              </a:lnSpc>
            </a:pPr>
            <a:r>
              <a:rPr lang="en-US" sz="1600" b="1" spc="-5" dirty="0">
                <a:latin typeface="Times New Roman" panose="02020603050405020304" pitchFamily="18" charset="0"/>
                <a:cs typeface="Times New Roman" panose="02020603050405020304" pitchFamily="18" charset="0"/>
              </a:rPr>
              <a:t>                                                </a:t>
            </a:r>
            <a:endParaRPr sz="1600" b="1" spc="-5" dirty="0">
              <a:latin typeface="Times New Roman" panose="02020603050405020304" pitchFamily="18" charset="0"/>
              <a:cs typeface="Times New Roman" panose="02020603050405020304" pitchFamily="18" charset="0"/>
            </a:endParaRPr>
          </a:p>
        </p:txBody>
      </p:sp>
      <p:pic>
        <p:nvPicPr>
          <p:cNvPr id="10" name="Picture 12" descr="C:\Documents and Settings\irene\Desktop\LOGO.png"/>
          <p:cNvPicPr>
            <a:picLocks noChangeAspect="1" noChangeArrowheads="1"/>
          </p:cNvPicPr>
          <p:nvPr/>
        </p:nvPicPr>
        <p:blipFill>
          <a:blip r:embed="rId3" cstate="print"/>
          <a:srcRect/>
          <a:stretch>
            <a:fillRect/>
          </a:stretch>
        </p:blipFill>
        <p:spPr bwMode="auto">
          <a:xfrm>
            <a:off x="3789363" y="0"/>
            <a:ext cx="1239837" cy="1169988"/>
          </a:xfrm>
          <a:prstGeom prst="rect">
            <a:avLst/>
          </a:prstGeom>
          <a:noFill/>
          <a:ln w="9525">
            <a:noFill/>
            <a:miter lim="800000"/>
            <a:headEnd/>
            <a:tailEnd/>
          </a:ln>
        </p:spPr>
      </p:pic>
      <p:sp>
        <p:nvSpPr>
          <p:cNvPr id="11" name="Rectangle 10"/>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76200" y="0"/>
            <a:ext cx="8994648" cy="13203615"/>
          </a:xfrm>
          <a:prstGeom prst="rect">
            <a:avLst/>
          </a:prstGeom>
        </p:spPr>
        <p:txBody>
          <a:bodyPr vert="horz" wrap="square" lIns="0" tIns="0" rIns="0" bIns="0" rtlCol="0">
            <a:spAutoFit/>
          </a:bodyPr>
          <a:lstStyle/>
          <a:p>
            <a:endParaRPr lang="en-GB" sz="1400" dirty="0">
              <a:latin typeface="Calibri" panose="020F0502020204030204" pitchFamily="34" charset="0"/>
              <a:cs typeface="Calibri" panose="020F0502020204030204" pitchFamily="34" charset="0"/>
            </a:endParaRPr>
          </a:p>
          <a:p>
            <a:endParaRPr lang="en-GB" sz="1600" dirty="0">
              <a:latin typeface="Times New Roman" panose="02020603050405020304" pitchFamily="18" charset="0"/>
              <a:cs typeface="Times New Roman" panose="02020603050405020304" pitchFamily="18" charset="0"/>
            </a:endParaRPr>
          </a:p>
          <a:p>
            <a:pPr algn="just"/>
            <a:endParaRPr lang="en-GB" sz="1600" dirty="0">
              <a:latin typeface="Times New Roman" panose="02020603050405020304" pitchFamily="18" charset="0"/>
              <a:cs typeface="Times New Roman" panose="02020603050405020304" pitchFamily="18" charset="0"/>
            </a:endParaRPr>
          </a:p>
          <a:p>
            <a:pPr algn="just"/>
            <a:endParaRPr lang="en-GB" sz="2000" dirty="0">
              <a:cs typeface="Times New Roman" panose="02020603050405020304" pitchFamily="18" charset="0"/>
            </a:endParaRPr>
          </a:p>
          <a:p>
            <a:pPr marL="285750" indent="-285750" algn="just">
              <a:buFont typeface="Wingdings" panose="05000000000000000000" pitchFamily="2" charset="2"/>
              <a:buChar char="q"/>
            </a:pPr>
            <a:r>
              <a:rPr lang="en-GB" sz="2000" b="1" dirty="0">
                <a:cs typeface="Times New Roman" panose="02020603050405020304" pitchFamily="18" charset="0"/>
              </a:rPr>
              <a:t>Introduction to Ambient Intelligence</a:t>
            </a:r>
          </a:p>
          <a:p>
            <a:pPr algn="just"/>
            <a:endParaRPr lang="en-GB" sz="2000" b="1" dirty="0">
              <a:cs typeface="Times New Roman" panose="02020603050405020304" pitchFamily="18" charset="0"/>
            </a:endParaRPr>
          </a:p>
          <a:p>
            <a:pPr marL="285750" indent="-285750" algn="just">
              <a:buFont typeface="Wingdings" panose="05000000000000000000" pitchFamily="2" charset="2"/>
              <a:buChar char="q"/>
            </a:pPr>
            <a:r>
              <a:rPr lang="en-GB" sz="2000" b="1" dirty="0">
                <a:cs typeface="Times New Roman" panose="02020603050405020304" pitchFamily="18" charset="0"/>
              </a:rPr>
              <a:t>Historical background to Ambient Intelligence</a:t>
            </a:r>
          </a:p>
          <a:p>
            <a:pPr marL="285750" indent="-285750" algn="just">
              <a:buFont typeface="Wingdings" panose="05000000000000000000" pitchFamily="2" charset="2"/>
              <a:buChar char="q"/>
            </a:pPr>
            <a:endParaRPr lang="en-GB" sz="2000" b="1" dirty="0">
              <a:cs typeface="Times New Roman" panose="02020603050405020304" pitchFamily="18" charset="0"/>
            </a:endParaRPr>
          </a:p>
          <a:p>
            <a:pPr marL="285750" indent="-285750" algn="just">
              <a:buFont typeface="Wingdings" panose="05000000000000000000" pitchFamily="2" charset="2"/>
              <a:buChar char="q"/>
            </a:pPr>
            <a:r>
              <a:rPr lang="en-GB" sz="2000" b="1" dirty="0">
                <a:cs typeface="Times New Roman" panose="02020603050405020304" pitchFamily="18" charset="0"/>
              </a:rPr>
              <a:t>Core components of Ambient Intelligence</a:t>
            </a:r>
          </a:p>
          <a:p>
            <a:pPr marL="285750" indent="-285750" algn="just">
              <a:buFont typeface="Wingdings" panose="05000000000000000000" pitchFamily="2" charset="2"/>
              <a:buChar char="q"/>
            </a:pPr>
            <a:endParaRPr lang="en-GB" sz="2000" b="1" dirty="0">
              <a:cs typeface="Times New Roman" panose="02020603050405020304" pitchFamily="18" charset="0"/>
            </a:endParaRPr>
          </a:p>
          <a:p>
            <a:pPr marL="285750" indent="-285750" algn="just">
              <a:buFont typeface="Wingdings" panose="05000000000000000000" pitchFamily="2" charset="2"/>
              <a:buChar char="q"/>
            </a:pPr>
            <a:r>
              <a:rPr lang="en-GB" sz="2000" b="1" dirty="0">
                <a:cs typeface="Times New Roman" panose="02020603050405020304" pitchFamily="18" charset="0"/>
              </a:rPr>
              <a:t>Key Components of Ambient Intelligence</a:t>
            </a:r>
          </a:p>
          <a:p>
            <a:pPr algn="just"/>
            <a:endParaRPr lang="en-GB" sz="2000" b="1" dirty="0">
              <a:cs typeface="Times New Roman" panose="02020603050405020304" pitchFamily="18" charset="0"/>
            </a:endParaRPr>
          </a:p>
          <a:p>
            <a:pPr marL="285750" indent="-285750" algn="just">
              <a:buFont typeface="Wingdings" panose="05000000000000000000" pitchFamily="2" charset="2"/>
              <a:buChar char="q"/>
            </a:pPr>
            <a:r>
              <a:rPr lang="en-GB" sz="2000" b="1" dirty="0">
                <a:cs typeface="Times New Roman" panose="02020603050405020304" pitchFamily="18" charset="0"/>
              </a:rPr>
              <a:t>Enabling Technologies of the Ambient Intelligence</a:t>
            </a:r>
          </a:p>
          <a:p>
            <a:pPr marL="285750" indent="-285750" algn="just">
              <a:buFont typeface="Wingdings" panose="05000000000000000000" pitchFamily="2" charset="2"/>
              <a:buChar char="q"/>
            </a:pPr>
            <a:endParaRPr lang="en-GB" sz="2000" b="1" dirty="0">
              <a:cs typeface="Times New Roman" panose="02020603050405020304" pitchFamily="18" charset="0"/>
            </a:endParaRPr>
          </a:p>
          <a:p>
            <a:pPr marL="285750" indent="-285750" algn="just">
              <a:buFont typeface="Wingdings" panose="05000000000000000000" pitchFamily="2" charset="2"/>
              <a:buChar char="q"/>
            </a:pPr>
            <a:r>
              <a:rPr lang="en-GB" sz="2000" b="1" dirty="0">
                <a:cs typeface="Times New Roman" panose="02020603050405020304" pitchFamily="18" charset="0"/>
              </a:rPr>
              <a:t>Applications of Ambient Intelligence</a:t>
            </a:r>
          </a:p>
          <a:p>
            <a:pPr algn="just"/>
            <a:endParaRPr lang="en-GB" sz="2000" b="1" dirty="0">
              <a:cs typeface="Times New Roman" panose="02020603050405020304" pitchFamily="18" charset="0"/>
            </a:endParaRPr>
          </a:p>
          <a:p>
            <a:pPr marL="285750" indent="-285750" algn="just">
              <a:buFont typeface="Wingdings" panose="05000000000000000000" pitchFamily="2" charset="2"/>
              <a:buChar char="q"/>
            </a:pPr>
            <a:r>
              <a:rPr lang="en-GB" sz="2000" b="1" dirty="0">
                <a:cs typeface="Times New Roman" panose="02020603050405020304" pitchFamily="18" charset="0"/>
              </a:rPr>
              <a:t>Challenges</a:t>
            </a:r>
          </a:p>
          <a:p>
            <a:pPr marL="285750" indent="-285750" algn="just">
              <a:buFont typeface="Wingdings" panose="05000000000000000000" pitchFamily="2" charset="2"/>
              <a:buChar char="q"/>
            </a:pPr>
            <a:endParaRPr lang="en-GB" sz="2000" b="1" dirty="0">
              <a:cs typeface="Times New Roman" panose="02020603050405020304" pitchFamily="18" charset="0"/>
            </a:endParaRPr>
          </a:p>
          <a:p>
            <a:pPr marL="285750" indent="-285750" algn="just">
              <a:buFont typeface="Wingdings" panose="05000000000000000000" pitchFamily="2" charset="2"/>
              <a:buChar char="q"/>
            </a:pPr>
            <a:r>
              <a:rPr lang="en-GB" sz="2000" b="1" dirty="0">
                <a:cs typeface="Times New Roman" panose="02020603050405020304" pitchFamily="18" charset="0"/>
              </a:rPr>
              <a:t>Future directions </a:t>
            </a:r>
          </a:p>
          <a:p>
            <a:pPr marL="285750" indent="-285750" algn="just">
              <a:buFont typeface="Wingdings" panose="05000000000000000000" pitchFamily="2" charset="2"/>
              <a:buChar char="q"/>
            </a:pPr>
            <a:endParaRPr lang="en-GB" sz="2000" b="1" dirty="0">
              <a:cs typeface="Times New Roman" panose="02020603050405020304" pitchFamily="18" charset="0"/>
            </a:endParaRPr>
          </a:p>
          <a:p>
            <a:pPr marL="285750" indent="-285750" algn="just">
              <a:buFont typeface="Wingdings" panose="05000000000000000000" pitchFamily="2" charset="2"/>
              <a:buChar char="q"/>
            </a:pPr>
            <a:r>
              <a:rPr lang="en-GB" sz="2000" b="1" dirty="0">
                <a:cs typeface="Times New Roman" panose="02020603050405020304" pitchFamily="18" charset="0"/>
              </a:rPr>
              <a:t>Conclusion</a:t>
            </a:r>
          </a:p>
          <a:p>
            <a:pPr marL="285750" indent="-285750" algn="just">
              <a:buFont typeface="Wingdings" panose="05000000000000000000" pitchFamily="2" charset="2"/>
              <a:buChar char="q"/>
            </a:pPr>
            <a:endParaRPr lang="en-GB" sz="2000" b="1" dirty="0">
              <a:cs typeface="Times New Roman" panose="02020603050405020304" pitchFamily="18" charset="0"/>
            </a:endParaRPr>
          </a:p>
          <a:p>
            <a:pPr marL="285750" indent="-285750" algn="just">
              <a:buFont typeface="Wingdings" panose="05000000000000000000" pitchFamily="2" charset="2"/>
              <a:buChar char="q"/>
            </a:pPr>
            <a:endParaRPr lang="en-GB" sz="2000" b="1" dirty="0">
              <a:cs typeface="Times New Roman" panose="02020603050405020304" pitchFamily="18" charset="0"/>
            </a:endParaRPr>
          </a:p>
          <a:p>
            <a:pPr marL="285750" indent="-285750" algn="just">
              <a:buFont typeface="Wingdings" panose="05000000000000000000" pitchFamily="2" charset="2"/>
              <a:buChar char="q"/>
            </a:pPr>
            <a:endParaRPr lang="en-GB" sz="2000" b="1" dirty="0">
              <a:cs typeface="Times New Roman" panose="02020603050405020304" pitchFamily="18" charset="0"/>
            </a:endParaRPr>
          </a:p>
          <a:p>
            <a:pPr algn="just"/>
            <a:endParaRPr lang="en-GB" sz="1600" b="1" dirty="0">
              <a:latin typeface="Times New Roman" panose="02020603050405020304" pitchFamily="18" charset="0"/>
              <a:cs typeface="Times New Roman" panose="02020603050405020304" pitchFamily="18" charset="0"/>
            </a:endParaRPr>
          </a:p>
          <a:p>
            <a:pPr algn="just"/>
            <a:endParaRPr lang="en-US" sz="1600" b="1" dirty="0">
              <a:latin typeface="Times New Roman" panose="02020603050405020304" pitchFamily="18" charset="0"/>
              <a:cs typeface="Times New Roman" panose="02020603050405020304" pitchFamily="18" charset="0"/>
            </a:endParaRPr>
          </a:p>
          <a:p>
            <a:pPr algn="just"/>
            <a:endParaRPr lang="en-GB" sz="20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endParaRPr lang="en-GB"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endParaRPr lang="en-GB"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GB"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endParaRPr lang="en-GB" b="1" dirty="0">
              <a:latin typeface="Times New Roman" panose="02020603050405020304" pitchFamily="18" charset="0"/>
              <a:cs typeface="Times New Roman" panose="02020603050405020304" pitchFamily="18" charset="0"/>
            </a:endParaRPr>
          </a:p>
          <a:p>
            <a:pPr algn="just"/>
            <a:endParaRPr lang="en-GB" b="1" dirty="0">
              <a:latin typeface="Times New Roman" panose="02020603050405020304" pitchFamily="18" charset="0"/>
              <a:cs typeface="Times New Roman" panose="02020603050405020304" pitchFamily="18" charset="0"/>
            </a:endParaRPr>
          </a:p>
          <a:p>
            <a:pPr algn="just"/>
            <a:endParaRPr lang="en-GB" b="1" dirty="0">
              <a:latin typeface="Times New Roman" panose="02020603050405020304" pitchFamily="18" charset="0"/>
              <a:cs typeface="Times New Roman" panose="02020603050405020304" pitchFamily="18" charset="0"/>
            </a:endParaRPr>
          </a:p>
          <a:p>
            <a:pPr algn="just"/>
            <a:endParaRPr lang="en-GB"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endParaRPr lang="en-GB" b="1" dirty="0">
              <a:latin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q"/>
            </a:pPr>
            <a:endParaRPr lang="en-GB" b="1" dirty="0">
              <a:latin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q"/>
            </a:pPr>
            <a:endParaRPr lang="en-GB" b="1" dirty="0">
              <a:latin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q"/>
            </a:pPr>
            <a:endParaRPr lang="en-GB" b="1" dirty="0">
              <a:latin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q"/>
            </a:pPr>
            <a:endParaRPr lang="en-GB" b="1" dirty="0">
              <a:latin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q"/>
            </a:pPr>
            <a:endParaRPr lang="en-GB" b="1" dirty="0">
              <a:latin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q"/>
            </a:pPr>
            <a:endParaRPr lang="en-GB" b="1" dirty="0">
              <a:latin typeface="Calibri" panose="020F0502020204030204" pitchFamily="34" charset="0"/>
              <a:cs typeface="Calibri" panose="020F0502020204030204" pitchFamily="34" charset="0"/>
            </a:endParaRPr>
          </a:p>
          <a:p>
            <a:pPr algn="just"/>
            <a:endParaRPr lang="en-GB" b="1" dirty="0">
              <a:latin typeface="Calibri" panose="020F0502020204030204" pitchFamily="34" charset="0"/>
              <a:cs typeface="Calibri" panose="020F0502020204030204" pitchFamily="34" charset="0"/>
            </a:endParaRPr>
          </a:p>
          <a:p>
            <a:pPr algn="just"/>
            <a:endParaRPr lang="en-GB" b="1" dirty="0">
              <a:latin typeface="Calibri" panose="020F0502020204030204" pitchFamily="34" charset="0"/>
              <a:cs typeface="Calibri" panose="020F0502020204030204" pitchFamily="34" charset="0"/>
            </a:endParaRPr>
          </a:p>
          <a:p>
            <a:pPr algn="just"/>
            <a:endParaRPr lang="en-GB" sz="2000" dirty="0">
              <a:latin typeface="Calibri" panose="020F0502020204030204" pitchFamily="34" charset="0"/>
              <a:cs typeface="Calibri" panose="020F0502020204030204" pitchFamily="34" charset="0"/>
            </a:endParaRPr>
          </a:p>
          <a:p>
            <a:endParaRPr lang="en-US" sz="1400" dirty="0">
              <a:latin typeface="Calibri" panose="020F0502020204030204" pitchFamily="34" charset="0"/>
              <a:cs typeface="Calibri" panose="020F0502020204030204" pitchFamily="34" charset="0"/>
            </a:endParaRPr>
          </a:p>
        </p:txBody>
      </p:sp>
      <p:cxnSp>
        <p:nvCxnSpPr>
          <p:cNvPr id="3" name="Straight Connector 2"/>
          <p:cNvCxnSpPr/>
          <p:nvPr/>
        </p:nvCxnSpPr>
        <p:spPr>
          <a:xfrm flipV="1">
            <a:off x="91440" y="4328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0" y="-76200"/>
            <a:ext cx="7620000" cy="621709"/>
          </a:xfrm>
          <a:prstGeom prst="rect">
            <a:avLst/>
          </a:prstGeom>
        </p:spPr>
        <p:txBody>
          <a:bodyPr wrap="square">
            <a:spAutoFit/>
          </a:bodyPr>
          <a:lstStyle/>
          <a:p>
            <a:pPr>
              <a:lnSpc>
                <a:spcPct val="200000"/>
              </a:lnSpc>
            </a:pPr>
            <a:r>
              <a:rPr lang="en-GB" sz="2000" b="1" dirty="0">
                <a:latin typeface="+mj-lt"/>
                <a:cs typeface="Times New Roman" panose="02020603050405020304" pitchFamily="18" charset="0"/>
              </a:rPr>
              <a:t>1.0 Overview</a:t>
            </a:r>
            <a:endParaRPr lang="en-GB" sz="2000" dirty="0">
              <a:latin typeface="+mj-lt"/>
              <a:cs typeface="Times New Roman" panose="02020603050405020304" pitchFamily="18" charset="0"/>
            </a:endParaRP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80519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152400" y="390227"/>
            <a:ext cx="8818692" cy="7171194"/>
          </a:xfrm>
          <a:prstGeom prst="rect">
            <a:avLst/>
          </a:prstGeom>
        </p:spPr>
        <p:txBody>
          <a:bodyPr vert="horz" wrap="square" lIns="0" tIns="0" rIns="0" bIns="0" rtlCol="0">
            <a:spAutoFit/>
          </a:bodyPr>
          <a:lstStyle/>
          <a:p>
            <a:pPr algn="just"/>
            <a:endParaRPr lang="en-GB" dirty="0">
              <a:latin typeface="Times New Roman" panose="02020603050405020304" pitchFamily="18" charset="0"/>
              <a:cs typeface="Times New Roman" panose="02020603050405020304" pitchFamily="18" charset="0"/>
            </a:endParaRPr>
          </a:p>
          <a:p>
            <a:pPr algn="just"/>
            <a:r>
              <a:rPr lang="en-US" b="1" dirty="0">
                <a:solidFill>
                  <a:srgbClr val="0070C0"/>
                </a:solidFill>
              </a:rPr>
              <a:t>What is Ambient Intelligence?</a:t>
            </a:r>
          </a:p>
          <a:p>
            <a:pPr algn="just"/>
            <a:endParaRPr lang="en-GB"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v"/>
            </a:pPr>
            <a:r>
              <a:rPr lang="en-US" sz="2000" dirty="0"/>
              <a:t>Ambient Intelligence (</a:t>
            </a:r>
            <a:r>
              <a:rPr lang="en-US" sz="2000" dirty="0" err="1"/>
              <a:t>AmI</a:t>
            </a:r>
            <a:r>
              <a:rPr lang="en-US" sz="2000" dirty="0"/>
              <a:t>) refers to electronic environments that are sensitive, adaptive, and responsive to the presence of people. </a:t>
            </a:r>
          </a:p>
          <a:p>
            <a:pPr marL="285750" indent="-285750" algn="just">
              <a:buFont typeface="Wingdings" panose="05000000000000000000" pitchFamily="2" charset="2"/>
              <a:buChar char="v"/>
            </a:pPr>
            <a:endParaRPr lang="en-US" sz="2000" dirty="0"/>
          </a:p>
          <a:p>
            <a:pPr marL="285750" indent="-285750" algn="just">
              <a:buFont typeface="Wingdings" panose="05000000000000000000" pitchFamily="2" charset="2"/>
              <a:buChar char="v"/>
            </a:pPr>
            <a:r>
              <a:rPr lang="en-US" sz="2000" dirty="0"/>
              <a:t>It encompasses the development and integration of technologies that aim to improve the interaction between humans and their surroundings through intelligent and unobtrusive systems. </a:t>
            </a:r>
          </a:p>
          <a:p>
            <a:pPr marL="285750" indent="-285750" algn="just">
              <a:buFont typeface="Wingdings" panose="05000000000000000000" pitchFamily="2" charset="2"/>
              <a:buChar char="v"/>
            </a:pPr>
            <a:endParaRPr lang="en-GB" sz="2000" dirty="0"/>
          </a:p>
          <a:p>
            <a:pPr lvl="1" algn="just"/>
            <a:r>
              <a:rPr lang="en-GB" sz="2000" dirty="0"/>
              <a:t> - </a:t>
            </a:r>
            <a:r>
              <a:rPr lang="en-US" sz="2000" dirty="0">
                <a:solidFill>
                  <a:srgbClr val="0070C0"/>
                </a:solidFill>
              </a:rPr>
              <a:t>Unobtrusive </a:t>
            </a:r>
            <a:r>
              <a:rPr lang="en-US" sz="2000" dirty="0"/>
              <a:t>refers to something that is not conspicuous; it does not attract attention or interfere with other things. An </a:t>
            </a:r>
            <a:r>
              <a:rPr lang="en-US" sz="2000" b="1" dirty="0"/>
              <a:t>unobtrusive system</a:t>
            </a:r>
            <a:r>
              <a:rPr lang="en-US" sz="2000" dirty="0"/>
              <a:t> is a system or technology that operates in the background without disturbing, distracting, or overwhelming the user. </a:t>
            </a:r>
            <a:r>
              <a:rPr lang="en-US" sz="2000"/>
              <a:t>These system</a:t>
            </a:r>
            <a:r>
              <a:rPr lang="en-US" sz="2000" dirty="0"/>
              <a:t>s</a:t>
            </a:r>
            <a:r>
              <a:rPr lang="en-US" sz="2000"/>
              <a:t> </a:t>
            </a:r>
            <a:r>
              <a:rPr lang="en-US" sz="2000" dirty="0"/>
              <a:t>seamlessly integrate into the background or function quietly without imposing on the user's experience. </a:t>
            </a:r>
          </a:p>
          <a:p>
            <a:pPr algn="just"/>
            <a:endParaRPr lang="en-US" sz="2000" dirty="0"/>
          </a:p>
          <a:p>
            <a:pPr marL="285750" indent="-285750" algn="just">
              <a:buFont typeface="Wingdings" panose="05000000000000000000" pitchFamily="2" charset="2"/>
              <a:buChar char="v"/>
            </a:pPr>
            <a:r>
              <a:rPr lang="en-US" sz="2000" dirty="0"/>
              <a:t>These environments are embedded with </a:t>
            </a:r>
            <a:r>
              <a:rPr lang="en-US" sz="2000" b="1" dirty="0"/>
              <a:t>sensors</a:t>
            </a:r>
            <a:r>
              <a:rPr lang="en-US" sz="2000" dirty="0"/>
              <a:t>, </a:t>
            </a:r>
            <a:r>
              <a:rPr lang="en-US" sz="2000" b="1" dirty="0"/>
              <a:t>processors</a:t>
            </a:r>
            <a:r>
              <a:rPr lang="en-US" sz="2000" dirty="0"/>
              <a:t>, and </a:t>
            </a:r>
            <a:r>
              <a:rPr lang="en-US" sz="2000" b="1" dirty="0"/>
              <a:t>software</a:t>
            </a:r>
            <a:r>
              <a:rPr lang="en-US" sz="2000" dirty="0"/>
              <a:t> that can understand and respond to human needs, behaviors, and emotions.</a:t>
            </a:r>
          </a:p>
          <a:p>
            <a:pPr algn="just"/>
            <a:endParaRPr lang="en-GB" dirty="0">
              <a:latin typeface="Times New Roman" panose="02020603050405020304" pitchFamily="18" charset="0"/>
              <a:cs typeface="Times New Roman" panose="02020603050405020304" pitchFamily="18" charset="0"/>
            </a:endParaRPr>
          </a:p>
          <a:p>
            <a:pPr algn="just"/>
            <a:endParaRPr lang="en-GB" dirty="0">
              <a:latin typeface="Times New Roman" panose="02020603050405020304" pitchFamily="18" charset="0"/>
              <a:cs typeface="Times New Roman" panose="02020603050405020304" pitchFamily="18" charset="0"/>
            </a:endParaRPr>
          </a:p>
          <a:p>
            <a:pPr algn="just"/>
            <a:endParaRPr lang="en-GB"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1440" y="-183383"/>
            <a:ext cx="8971092" cy="620042"/>
          </a:xfrm>
          <a:prstGeom prst="rect">
            <a:avLst/>
          </a:prstGeom>
        </p:spPr>
        <p:txBody>
          <a:bodyPr wrap="square">
            <a:spAutoFit/>
          </a:bodyPr>
          <a:lstStyle/>
          <a:p>
            <a:pPr>
              <a:lnSpc>
                <a:spcPct val="200000"/>
              </a:lnSpc>
            </a:pPr>
            <a:r>
              <a:rPr lang="en-GB" sz="2000" b="1" dirty="0">
                <a:latin typeface="+mj-lt"/>
                <a:cs typeface="Calibri" panose="020F0502020204030204" pitchFamily="34" charset="0"/>
              </a:rPr>
              <a:t>2.0 </a:t>
            </a:r>
            <a:r>
              <a:rPr lang="en-GB" sz="2000" b="1" dirty="0">
                <a:latin typeface="+mj-lt"/>
                <a:cs typeface="Times New Roman" panose="02020603050405020304" pitchFamily="18" charset="0"/>
              </a:rPr>
              <a:t>Introduction </a:t>
            </a: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47852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152400" y="390227"/>
            <a:ext cx="8818692" cy="2877711"/>
          </a:xfrm>
          <a:prstGeom prst="rect">
            <a:avLst/>
          </a:prstGeom>
        </p:spPr>
        <p:txBody>
          <a:bodyPr vert="horz" wrap="square" lIns="0" tIns="0" rIns="0" bIns="0" rtlCol="0">
            <a:spAutoFit/>
          </a:bodyPr>
          <a:lstStyle/>
          <a:p>
            <a:pPr algn="just"/>
            <a:endParaRPr lang="en-GB" dirty="0">
              <a:latin typeface="Times New Roman" panose="02020603050405020304" pitchFamily="18" charset="0"/>
              <a:cs typeface="Times New Roman" panose="02020603050405020304" pitchFamily="18" charset="0"/>
            </a:endParaRPr>
          </a:p>
          <a:p>
            <a:pPr algn="just"/>
            <a:r>
              <a:rPr lang="en-GB" sz="2000" b="1" dirty="0">
                <a:solidFill>
                  <a:srgbClr val="0070C0"/>
                </a:solidFill>
              </a:rPr>
              <a:t>Example:</a:t>
            </a:r>
            <a:r>
              <a:rPr lang="en-US" sz="2000" b="1" dirty="0">
                <a:solidFill>
                  <a:srgbClr val="0070C0"/>
                </a:solidFill>
              </a:rPr>
              <a:t> </a:t>
            </a:r>
            <a:r>
              <a:rPr lang="en-US" sz="2000" dirty="0"/>
              <a:t>Scott’s house as an example of Ambient Intelligence. </a:t>
            </a:r>
          </a:p>
          <a:p>
            <a:pPr algn="just"/>
            <a:endParaRPr lang="en-US" sz="2000" dirty="0"/>
          </a:p>
          <a:p>
            <a:pPr marL="285750" indent="-285750">
              <a:lnSpc>
                <a:spcPct val="150000"/>
              </a:lnSpc>
              <a:buFont typeface="Wingdings" panose="05000000000000000000" pitchFamily="2" charset="2"/>
              <a:buChar char="v"/>
            </a:pPr>
            <a:r>
              <a:rPr lang="en-US" sz="2000" dirty="0"/>
              <a:t>Scott has just got in his house and he is standing in his living room. </a:t>
            </a:r>
          </a:p>
          <a:p>
            <a:pPr marL="285750" indent="-285750">
              <a:lnSpc>
                <a:spcPct val="150000"/>
              </a:lnSpc>
              <a:buFont typeface="Wingdings" panose="05000000000000000000" pitchFamily="2" charset="2"/>
              <a:buChar char="v"/>
            </a:pPr>
            <a:endParaRPr lang="en-US" dirty="0"/>
          </a:p>
          <a:p>
            <a:pPr algn="just"/>
            <a:endParaRPr lang="en-GB" dirty="0">
              <a:latin typeface="Times New Roman" panose="02020603050405020304" pitchFamily="18" charset="0"/>
              <a:cs typeface="Times New Roman" panose="02020603050405020304" pitchFamily="18" charset="0"/>
            </a:endParaRPr>
          </a:p>
          <a:p>
            <a:pPr algn="just"/>
            <a:endParaRPr lang="en-GB" dirty="0">
              <a:latin typeface="Times New Roman" panose="02020603050405020304" pitchFamily="18" charset="0"/>
              <a:cs typeface="Times New Roman" panose="02020603050405020304" pitchFamily="18" charset="0"/>
            </a:endParaRPr>
          </a:p>
          <a:p>
            <a:pPr algn="just"/>
            <a:endParaRPr lang="en-GB"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1440" y="-183383"/>
            <a:ext cx="8971092" cy="620042"/>
          </a:xfrm>
          <a:prstGeom prst="rect">
            <a:avLst/>
          </a:prstGeom>
        </p:spPr>
        <p:txBody>
          <a:bodyPr wrap="square">
            <a:spAutoFit/>
          </a:bodyPr>
          <a:lstStyle/>
          <a:p>
            <a:pPr>
              <a:lnSpc>
                <a:spcPct val="200000"/>
              </a:lnSpc>
            </a:pPr>
            <a:r>
              <a:rPr lang="en-GB" sz="2000" b="1" dirty="0">
                <a:latin typeface="+mj-lt"/>
                <a:cs typeface="Calibri" panose="020F0502020204030204" pitchFamily="34" charset="0"/>
              </a:rPr>
              <a:t>2.0 </a:t>
            </a:r>
            <a:r>
              <a:rPr lang="en-GB" sz="2000" b="1" dirty="0">
                <a:latin typeface="+mj-lt"/>
                <a:cs typeface="Times New Roman" panose="02020603050405020304" pitchFamily="18" charset="0"/>
              </a:rPr>
              <a:t>Introduction </a:t>
            </a: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pic>
        <p:nvPicPr>
          <p:cNvPr id="9" name="Picture 2" descr="Man standing in living room, using digital tablet stock phot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956322"/>
            <a:ext cx="5181600" cy="3911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0883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152400" y="390227"/>
            <a:ext cx="8818692" cy="6140142"/>
          </a:xfrm>
          <a:prstGeom prst="rect">
            <a:avLst/>
          </a:prstGeom>
        </p:spPr>
        <p:txBody>
          <a:bodyPr vert="horz" wrap="square" lIns="0" tIns="0" rIns="0" bIns="0" rtlCol="0">
            <a:spAutoFit/>
          </a:bodyPr>
          <a:lstStyle/>
          <a:p>
            <a:pPr>
              <a:lnSpc>
                <a:spcPct val="150000"/>
              </a:lnSpc>
            </a:pPr>
            <a:endParaRPr lang="en-US" dirty="0"/>
          </a:p>
          <a:p>
            <a:pPr marL="285750" indent="-285750">
              <a:lnSpc>
                <a:spcPct val="150000"/>
              </a:lnSpc>
              <a:buFont typeface="Wingdings" panose="05000000000000000000" pitchFamily="2" charset="2"/>
              <a:buChar char="v"/>
            </a:pPr>
            <a:r>
              <a:rPr lang="en-US" sz="2000" dirty="0"/>
              <a:t>Before he even realizes to himself, Scott’s house has just lowered the temperature by 1 degree because the </a:t>
            </a:r>
            <a:r>
              <a:rPr lang="en-US" sz="2000" dirty="0" err="1"/>
              <a:t>AmI</a:t>
            </a:r>
            <a:r>
              <a:rPr lang="en-US" sz="2000" dirty="0"/>
              <a:t> settings have noticed that his body temperature is slightly elevated. </a:t>
            </a:r>
          </a:p>
          <a:p>
            <a:pPr>
              <a:lnSpc>
                <a:spcPct val="150000"/>
              </a:lnSpc>
            </a:pPr>
            <a:endParaRPr lang="en-US" sz="2000" dirty="0"/>
          </a:p>
          <a:p>
            <a:pPr marL="285750" indent="-285750">
              <a:lnSpc>
                <a:spcPct val="150000"/>
              </a:lnSpc>
              <a:buFont typeface="Wingdings" panose="05000000000000000000" pitchFamily="2" charset="2"/>
              <a:buChar char="v"/>
            </a:pPr>
            <a:r>
              <a:rPr lang="en-US" sz="2000" dirty="0"/>
              <a:t>The house has also detected that his blood-sugar levels are low, and as Scott is diabetic, the refrigerator beeps to notify him that he needs a drink of juice. </a:t>
            </a:r>
          </a:p>
          <a:p>
            <a:pPr marL="285750" indent="-285750">
              <a:lnSpc>
                <a:spcPct val="150000"/>
              </a:lnSpc>
              <a:buFont typeface="Wingdings" panose="05000000000000000000" pitchFamily="2" charset="2"/>
              <a:buChar char="v"/>
            </a:pPr>
            <a:endParaRPr lang="en-US" sz="2000" dirty="0"/>
          </a:p>
          <a:p>
            <a:pPr marL="285750" indent="-285750">
              <a:lnSpc>
                <a:spcPct val="150000"/>
              </a:lnSpc>
              <a:buFont typeface="Wingdings" panose="05000000000000000000" pitchFamily="2" charset="2"/>
              <a:buChar char="v"/>
            </a:pPr>
            <a:r>
              <a:rPr lang="en-US" sz="2000" dirty="0"/>
              <a:t>Scott can then relieve himself in the toilet, where his urine sample data will be instantly sent to his doctor’s office.</a:t>
            </a:r>
          </a:p>
          <a:p>
            <a:pPr algn="just"/>
            <a:endParaRPr lang="en-GB" dirty="0">
              <a:latin typeface="Times New Roman" panose="02020603050405020304" pitchFamily="18" charset="0"/>
              <a:cs typeface="Times New Roman" panose="02020603050405020304" pitchFamily="18" charset="0"/>
            </a:endParaRPr>
          </a:p>
          <a:p>
            <a:pPr algn="just"/>
            <a:endParaRPr lang="en-GB" dirty="0">
              <a:latin typeface="Times New Roman" panose="02020603050405020304" pitchFamily="18" charset="0"/>
              <a:cs typeface="Times New Roman" panose="02020603050405020304" pitchFamily="18" charset="0"/>
            </a:endParaRPr>
          </a:p>
          <a:p>
            <a:pPr algn="just"/>
            <a:endParaRPr lang="en-GB"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1440" y="-183383"/>
            <a:ext cx="8971092" cy="620042"/>
          </a:xfrm>
          <a:prstGeom prst="rect">
            <a:avLst/>
          </a:prstGeom>
        </p:spPr>
        <p:txBody>
          <a:bodyPr wrap="square">
            <a:spAutoFit/>
          </a:bodyPr>
          <a:lstStyle/>
          <a:p>
            <a:pPr>
              <a:lnSpc>
                <a:spcPct val="200000"/>
              </a:lnSpc>
            </a:pPr>
            <a:r>
              <a:rPr lang="en-GB" sz="2000" b="1" dirty="0">
                <a:latin typeface="+mj-lt"/>
                <a:cs typeface="Calibri" panose="020F0502020204030204" pitchFamily="34" charset="0"/>
              </a:rPr>
              <a:t>2.0 </a:t>
            </a:r>
            <a:r>
              <a:rPr lang="en-GB" sz="2000" b="1" dirty="0">
                <a:latin typeface="+mj-lt"/>
                <a:cs typeface="Times New Roman" panose="02020603050405020304" pitchFamily="18" charset="0"/>
              </a:rPr>
              <a:t>Introduction - Example </a:t>
            </a: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2141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152400" y="390227"/>
            <a:ext cx="8818692" cy="3647152"/>
          </a:xfrm>
          <a:prstGeom prst="rect">
            <a:avLst/>
          </a:prstGeom>
        </p:spPr>
        <p:txBody>
          <a:bodyPr vert="horz" wrap="square" lIns="0" tIns="0" rIns="0" bIns="0" rtlCol="0">
            <a:spAutoFit/>
          </a:bodyPr>
          <a:lstStyle/>
          <a:p>
            <a:pPr algn="just"/>
            <a:endParaRPr lang="en-GB" dirty="0">
              <a:latin typeface="Times New Roman" panose="02020603050405020304" pitchFamily="18" charset="0"/>
              <a:cs typeface="Times New Roman" panose="02020603050405020304" pitchFamily="18" charset="0"/>
            </a:endParaRPr>
          </a:p>
          <a:p>
            <a:pPr algn="just">
              <a:lnSpc>
                <a:spcPct val="150000"/>
              </a:lnSpc>
            </a:pPr>
            <a:r>
              <a:rPr lang="en-GB" sz="2000" b="1" dirty="0">
                <a:solidFill>
                  <a:srgbClr val="0070C0"/>
                </a:solidFill>
              </a:rPr>
              <a:t>Historical background of Ambient Intelligence</a:t>
            </a:r>
          </a:p>
          <a:p>
            <a:pPr algn="just">
              <a:lnSpc>
                <a:spcPct val="150000"/>
              </a:lnSpc>
            </a:pPr>
            <a:endParaRPr lang="en-GB" dirty="0">
              <a:cs typeface="Times New Roman" panose="02020603050405020304" pitchFamily="18" charset="0"/>
            </a:endParaRPr>
          </a:p>
          <a:p>
            <a:pPr marL="285750" lvl="0" indent="-285750">
              <a:lnSpc>
                <a:spcPct val="150000"/>
              </a:lnSpc>
              <a:buFont typeface="Wingdings" panose="05000000000000000000" pitchFamily="2" charset="2"/>
              <a:buChar char="v"/>
            </a:pPr>
            <a:r>
              <a:rPr lang="en-US" b="1" dirty="0">
                <a:solidFill>
                  <a:srgbClr val="FF0000"/>
                </a:solidFill>
              </a:rPr>
              <a:t>Ubiquitous computing  </a:t>
            </a:r>
          </a:p>
          <a:p>
            <a:pPr lvl="0">
              <a:lnSpc>
                <a:spcPct val="150000"/>
              </a:lnSpc>
            </a:pPr>
            <a:r>
              <a:rPr lang="en-US" b="1" dirty="0"/>
              <a:t>- </a:t>
            </a:r>
            <a:r>
              <a:rPr lang="en-US" dirty="0"/>
              <a:t>The concept of </a:t>
            </a:r>
            <a:r>
              <a:rPr lang="en-US" dirty="0" err="1"/>
              <a:t>AmI</a:t>
            </a:r>
            <a:r>
              <a:rPr lang="en-US" dirty="0"/>
              <a:t> can be traced back to the late 20th century with the advent of </a:t>
            </a:r>
            <a:r>
              <a:rPr lang="en-US" b="1" dirty="0"/>
              <a:t>ubiquitous computing</a:t>
            </a:r>
            <a:r>
              <a:rPr lang="en-US" dirty="0"/>
              <a:t>, a term coined by Mark Weiser in 1991.</a:t>
            </a:r>
          </a:p>
          <a:p>
            <a:pPr lvl="0">
              <a:lnSpc>
                <a:spcPct val="150000"/>
              </a:lnSpc>
            </a:pPr>
            <a:r>
              <a:rPr lang="en-US" dirty="0"/>
              <a:t>- At the end of the 1980s, Mark Weiser laid the foundations of Ubiquitous Computing, which he theorized in 1991 in his article “The Computer for the 21st century” (</a:t>
            </a:r>
            <a:r>
              <a:rPr lang="en-US" dirty="0" err="1"/>
              <a:t>Thanh</a:t>
            </a:r>
            <a:r>
              <a:rPr lang="en-US" dirty="0"/>
              <a:t> et.al 2020).</a:t>
            </a:r>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1440" y="-183383"/>
            <a:ext cx="8971092" cy="620042"/>
          </a:xfrm>
          <a:prstGeom prst="rect">
            <a:avLst/>
          </a:prstGeom>
        </p:spPr>
        <p:txBody>
          <a:bodyPr wrap="square">
            <a:spAutoFit/>
          </a:bodyPr>
          <a:lstStyle/>
          <a:p>
            <a:pPr>
              <a:lnSpc>
                <a:spcPct val="200000"/>
              </a:lnSpc>
            </a:pPr>
            <a:r>
              <a:rPr lang="en-GB" sz="2000" b="1" dirty="0">
                <a:latin typeface="+mj-lt"/>
                <a:cs typeface="Calibri" panose="020F0502020204030204" pitchFamily="34" charset="0"/>
              </a:rPr>
              <a:t>2.0 </a:t>
            </a:r>
            <a:r>
              <a:rPr lang="en-GB" sz="2000" b="1" dirty="0">
                <a:latin typeface="+mj-lt"/>
                <a:cs typeface="Times New Roman" panose="02020603050405020304" pitchFamily="18" charset="0"/>
              </a:rPr>
              <a:t>Introduction </a:t>
            </a: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00617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152400" y="390227"/>
            <a:ext cx="8818692" cy="6263253"/>
          </a:xfrm>
          <a:prstGeom prst="rect">
            <a:avLst/>
          </a:prstGeom>
        </p:spPr>
        <p:txBody>
          <a:bodyPr vert="horz" wrap="square" lIns="0" tIns="0" rIns="0" bIns="0" rtlCol="0">
            <a:spAutoFit/>
          </a:bodyPr>
          <a:lstStyle/>
          <a:p>
            <a:pPr algn="just"/>
            <a:endParaRPr lang="en-GB" dirty="0">
              <a:latin typeface="Times New Roman" panose="02020603050405020304" pitchFamily="18" charset="0"/>
              <a:cs typeface="Times New Roman" panose="02020603050405020304" pitchFamily="18" charset="0"/>
            </a:endParaRPr>
          </a:p>
          <a:p>
            <a:pPr algn="just"/>
            <a:r>
              <a:rPr lang="en-GB" sz="2000" b="1" dirty="0">
                <a:solidFill>
                  <a:srgbClr val="0070C0"/>
                </a:solidFill>
              </a:rPr>
              <a:t>Historical background of Ambient Intelligence</a:t>
            </a:r>
            <a:endParaRPr lang="en-US" sz="2000" b="1" dirty="0">
              <a:solidFill>
                <a:srgbClr val="0070C0"/>
              </a:solidFill>
            </a:endParaRPr>
          </a:p>
          <a:p>
            <a:pPr lvl="0">
              <a:lnSpc>
                <a:spcPct val="150000"/>
              </a:lnSpc>
            </a:pPr>
            <a:endParaRPr lang="en-GB" dirty="0"/>
          </a:p>
          <a:p>
            <a:pPr lvl="0">
              <a:lnSpc>
                <a:spcPct val="150000"/>
              </a:lnSpc>
            </a:pPr>
            <a:r>
              <a:rPr lang="en-GB" dirty="0"/>
              <a:t>- What is </a:t>
            </a:r>
            <a:r>
              <a:rPr lang="en-US" b="1" dirty="0">
                <a:solidFill>
                  <a:srgbClr val="0070C0"/>
                </a:solidFill>
              </a:rPr>
              <a:t>Ubiquitous computing</a:t>
            </a:r>
            <a:r>
              <a:rPr lang="en-US" b="1" i="1" dirty="0">
                <a:solidFill>
                  <a:srgbClr val="0070C0"/>
                </a:solidFill>
              </a:rPr>
              <a:t>?</a:t>
            </a:r>
            <a:endParaRPr lang="en-US" dirty="0"/>
          </a:p>
          <a:p>
            <a:pPr lvl="1">
              <a:lnSpc>
                <a:spcPct val="150000"/>
              </a:lnSpc>
            </a:pPr>
            <a:r>
              <a:rPr lang="en-US" i="1" dirty="0"/>
              <a:t> - </a:t>
            </a:r>
            <a:r>
              <a:rPr lang="en-US" b="1" i="1" dirty="0">
                <a:solidFill>
                  <a:srgbClr val="0070C0"/>
                </a:solidFill>
              </a:rPr>
              <a:t>Ubiquitous computing</a:t>
            </a:r>
            <a:r>
              <a:rPr lang="en-US" i="1" dirty="0"/>
              <a:t>, also known as </a:t>
            </a:r>
            <a:r>
              <a:rPr lang="en-US" b="1" i="1" dirty="0">
                <a:solidFill>
                  <a:srgbClr val="0070C0"/>
                </a:solidFill>
              </a:rPr>
              <a:t>pervasive computing</a:t>
            </a:r>
            <a:r>
              <a:rPr lang="en-US" i="1" dirty="0"/>
              <a:t>, refers to the concept of embedding computing capabilities into everyday objects and environments to make them smart, interconnected, and responsive to user needs. The goal of ubiquitous computing is to create seamless, context-aware experiences by integrating computing devices into the fabric of daily life without requiring explicit user interaction. </a:t>
            </a:r>
          </a:p>
          <a:p>
            <a:pPr lvl="1">
              <a:lnSpc>
                <a:spcPct val="150000"/>
              </a:lnSpc>
            </a:pPr>
            <a:endParaRPr lang="en-US" dirty="0"/>
          </a:p>
          <a:p>
            <a:pPr lvl="0">
              <a:lnSpc>
                <a:spcPct val="150000"/>
              </a:lnSpc>
            </a:pPr>
            <a:r>
              <a:rPr lang="en-US" dirty="0"/>
              <a:t>- Weiser envisioned a world where computers are seamlessly integrated into everyday objects and activities.</a:t>
            </a:r>
          </a:p>
          <a:p>
            <a:pPr algn="just"/>
            <a:endParaRPr lang="en-GB" dirty="0">
              <a:latin typeface="Times New Roman" panose="02020603050405020304" pitchFamily="18" charset="0"/>
              <a:cs typeface="Times New Roman" panose="02020603050405020304" pitchFamily="18" charset="0"/>
            </a:endParaRPr>
          </a:p>
          <a:p>
            <a:pPr algn="just"/>
            <a:endParaRPr lang="en-GB" dirty="0">
              <a:latin typeface="Times New Roman" panose="02020603050405020304" pitchFamily="18" charset="0"/>
              <a:cs typeface="Times New Roman" panose="02020603050405020304" pitchFamily="18" charset="0"/>
            </a:endParaRPr>
          </a:p>
          <a:p>
            <a:pPr algn="just"/>
            <a:endParaRPr lang="en-GB"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1440" y="-183383"/>
            <a:ext cx="8971092" cy="620042"/>
          </a:xfrm>
          <a:prstGeom prst="rect">
            <a:avLst/>
          </a:prstGeom>
        </p:spPr>
        <p:txBody>
          <a:bodyPr wrap="square">
            <a:spAutoFit/>
          </a:bodyPr>
          <a:lstStyle/>
          <a:p>
            <a:pPr>
              <a:lnSpc>
                <a:spcPct val="200000"/>
              </a:lnSpc>
            </a:pPr>
            <a:r>
              <a:rPr lang="en-GB" sz="2000" b="1" dirty="0">
                <a:latin typeface="+mj-lt"/>
                <a:cs typeface="Calibri" panose="020F0502020204030204" pitchFamily="34" charset="0"/>
              </a:rPr>
              <a:t>2.0 </a:t>
            </a:r>
            <a:r>
              <a:rPr lang="en-GB" sz="2000" b="1" dirty="0">
                <a:latin typeface="+mj-lt"/>
                <a:cs typeface="Times New Roman" panose="02020603050405020304" pitchFamily="18" charset="0"/>
              </a:rPr>
              <a:t>Introduction </a:t>
            </a: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26561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152400" y="390227"/>
            <a:ext cx="8818692" cy="4478149"/>
          </a:xfrm>
          <a:prstGeom prst="rect">
            <a:avLst/>
          </a:prstGeom>
        </p:spPr>
        <p:txBody>
          <a:bodyPr vert="horz" wrap="square" lIns="0" tIns="0" rIns="0" bIns="0" rtlCol="0">
            <a:spAutoFit/>
          </a:bodyPr>
          <a:lstStyle/>
          <a:p>
            <a:pPr algn="just"/>
            <a:endParaRPr lang="en-GB" dirty="0">
              <a:latin typeface="Times New Roman" panose="02020603050405020304" pitchFamily="18" charset="0"/>
              <a:cs typeface="Times New Roman" panose="02020603050405020304" pitchFamily="18" charset="0"/>
            </a:endParaRPr>
          </a:p>
          <a:p>
            <a:pPr algn="just">
              <a:lnSpc>
                <a:spcPct val="150000"/>
              </a:lnSpc>
            </a:pPr>
            <a:r>
              <a:rPr lang="en-GB" sz="2000" b="1" dirty="0">
                <a:solidFill>
                  <a:srgbClr val="0070C0"/>
                </a:solidFill>
              </a:rPr>
              <a:t>Historical background of Ambient Intelligence</a:t>
            </a:r>
          </a:p>
          <a:p>
            <a:pPr algn="just">
              <a:lnSpc>
                <a:spcPct val="150000"/>
              </a:lnSpc>
            </a:pPr>
            <a:endParaRPr lang="en-GB" dirty="0"/>
          </a:p>
          <a:p>
            <a:pPr marL="285750" indent="-285750">
              <a:lnSpc>
                <a:spcPct val="150000"/>
              </a:lnSpc>
              <a:buFont typeface="Wingdings" panose="05000000000000000000" pitchFamily="2" charset="2"/>
              <a:buChar char="v"/>
            </a:pPr>
            <a:r>
              <a:rPr lang="en-US" b="1" dirty="0">
                <a:solidFill>
                  <a:srgbClr val="FF0000"/>
                </a:solidFill>
              </a:rPr>
              <a:t>Advancements in Sensor Technology:</a:t>
            </a:r>
            <a:r>
              <a:rPr lang="en-US" dirty="0">
                <a:solidFill>
                  <a:srgbClr val="FF0000"/>
                </a:solidFill>
              </a:rPr>
              <a:t> </a:t>
            </a:r>
          </a:p>
          <a:p>
            <a:pPr>
              <a:lnSpc>
                <a:spcPct val="150000"/>
              </a:lnSpc>
            </a:pPr>
            <a:r>
              <a:rPr lang="en-US" dirty="0"/>
              <a:t>- The rapid development of sensor technology, particularly </a:t>
            </a:r>
            <a:r>
              <a:rPr lang="en-US" dirty="0" err="1"/>
              <a:t>microsensors</a:t>
            </a:r>
            <a:r>
              <a:rPr lang="en-US" dirty="0"/>
              <a:t> and wireless communication protocols, played a crucial role in enabling </a:t>
            </a:r>
            <a:r>
              <a:rPr lang="en-US" dirty="0" err="1"/>
              <a:t>AmI</a:t>
            </a:r>
            <a:r>
              <a:rPr lang="en-US" dirty="0"/>
              <a:t>. </a:t>
            </a:r>
          </a:p>
          <a:p>
            <a:pPr>
              <a:lnSpc>
                <a:spcPct val="150000"/>
              </a:lnSpc>
            </a:pPr>
            <a:r>
              <a:rPr lang="en-US" dirty="0"/>
              <a:t> - Miniaturization, increased sensitivity, and reduced costs of sensors made it feasible to deploy them in various environments to gather real-time data about the surroundings and user activities.</a:t>
            </a:r>
          </a:p>
          <a:p>
            <a:pPr>
              <a:lnSpc>
                <a:spcPct val="150000"/>
              </a:lnSpc>
            </a:pPr>
            <a:r>
              <a:rPr lang="en-US" dirty="0"/>
              <a:t>preferences.</a:t>
            </a:r>
          </a:p>
          <a:p>
            <a:pPr>
              <a:lnSpc>
                <a:spcPct val="150000"/>
              </a:lnSpc>
            </a:pPr>
            <a:endParaRPr lang="en-US" dirty="0"/>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1440" y="-183383"/>
            <a:ext cx="8971092" cy="620042"/>
          </a:xfrm>
          <a:prstGeom prst="rect">
            <a:avLst/>
          </a:prstGeom>
        </p:spPr>
        <p:txBody>
          <a:bodyPr wrap="square">
            <a:spAutoFit/>
          </a:bodyPr>
          <a:lstStyle/>
          <a:p>
            <a:pPr>
              <a:lnSpc>
                <a:spcPct val="200000"/>
              </a:lnSpc>
            </a:pPr>
            <a:r>
              <a:rPr lang="en-GB" sz="2000" b="1" dirty="0">
                <a:latin typeface="+mj-lt"/>
                <a:cs typeface="Calibri" panose="020F0502020204030204" pitchFamily="34" charset="0"/>
              </a:rPr>
              <a:t>2.0 </a:t>
            </a:r>
            <a:r>
              <a:rPr lang="en-GB" sz="2000" b="1" dirty="0">
                <a:latin typeface="+mj-lt"/>
                <a:cs typeface="Times New Roman" panose="02020603050405020304" pitchFamily="18" charset="0"/>
              </a:rPr>
              <a:t>Introduction </a:t>
            </a: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34767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152400" y="390227"/>
            <a:ext cx="8818692" cy="4893647"/>
          </a:xfrm>
          <a:prstGeom prst="rect">
            <a:avLst/>
          </a:prstGeom>
        </p:spPr>
        <p:txBody>
          <a:bodyPr vert="horz" wrap="square" lIns="0" tIns="0" rIns="0" bIns="0" rtlCol="0">
            <a:spAutoFit/>
          </a:bodyPr>
          <a:lstStyle/>
          <a:p>
            <a:pPr algn="just"/>
            <a:endParaRPr lang="en-GB" dirty="0">
              <a:latin typeface="Times New Roman" panose="02020603050405020304" pitchFamily="18" charset="0"/>
              <a:cs typeface="Times New Roman" panose="02020603050405020304" pitchFamily="18" charset="0"/>
            </a:endParaRPr>
          </a:p>
          <a:p>
            <a:pPr algn="just">
              <a:lnSpc>
                <a:spcPct val="150000"/>
              </a:lnSpc>
            </a:pPr>
            <a:r>
              <a:rPr lang="en-GB" sz="2000" b="1" dirty="0">
                <a:solidFill>
                  <a:srgbClr val="0070C0"/>
                </a:solidFill>
              </a:rPr>
              <a:t>Historical background of Ambient Intelligence</a:t>
            </a:r>
            <a:endParaRPr lang="en-GB" dirty="0"/>
          </a:p>
          <a:p>
            <a:pPr>
              <a:lnSpc>
                <a:spcPct val="150000"/>
              </a:lnSpc>
            </a:pPr>
            <a:endParaRPr lang="en-GB" dirty="0"/>
          </a:p>
          <a:p>
            <a:pPr marL="285750" indent="-285750">
              <a:lnSpc>
                <a:spcPct val="150000"/>
              </a:lnSpc>
              <a:buFont typeface="Wingdings" panose="05000000000000000000" pitchFamily="2" charset="2"/>
              <a:buChar char="v"/>
            </a:pPr>
            <a:r>
              <a:rPr lang="en-US" b="1" dirty="0">
                <a:solidFill>
                  <a:srgbClr val="FF0000"/>
                </a:solidFill>
              </a:rPr>
              <a:t>Internet of Things (</a:t>
            </a:r>
            <a:r>
              <a:rPr lang="en-US" b="1" dirty="0" err="1">
                <a:solidFill>
                  <a:srgbClr val="FF0000"/>
                </a:solidFill>
              </a:rPr>
              <a:t>IoT</a:t>
            </a:r>
            <a:r>
              <a:rPr lang="en-US" b="1" dirty="0">
                <a:solidFill>
                  <a:srgbClr val="FF0000"/>
                </a:solidFill>
              </a:rPr>
              <a:t>):</a:t>
            </a:r>
            <a:r>
              <a:rPr lang="en-US" dirty="0">
                <a:solidFill>
                  <a:srgbClr val="FF0000"/>
                </a:solidFill>
              </a:rPr>
              <a:t> </a:t>
            </a:r>
          </a:p>
          <a:p>
            <a:pPr>
              <a:lnSpc>
                <a:spcPct val="150000"/>
              </a:lnSpc>
            </a:pPr>
            <a:r>
              <a:rPr lang="en-US" dirty="0"/>
              <a:t>-The emergence of the Internet of Things (</a:t>
            </a:r>
            <a:r>
              <a:rPr lang="en-US" dirty="0" err="1"/>
              <a:t>IoT</a:t>
            </a:r>
            <a:r>
              <a:rPr lang="en-US" dirty="0"/>
              <a:t>) in the early 2000s further fueled the development of </a:t>
            </a:r>
            <a:r>
              <a:rPr lang="en-US" dirty="0" err="1"/>
              <a:t>AmI</a:t>
            </a:r>
            <a:r>
              <a:rPr lang="en-US" dirty="0"/>
              <a:t>. </a:t>
            </a:r>
          </a:p>
          <a:p>
            <a:pPr marL="285750" indent="-285750">
              <a:lnSpc>
                <a:spcPct val="150000"/>
              </a:lnSpc>
              <a:buFontTx/>
              <a:buChar char="-"/>
            </a:pPr>
            <a:r>
              <a:rPr lang="en-US" dirty="0" err="1"/>
              <a:t>IoT</a:t>
            </a:r>
            <a:r>
              <a:rPr lang="en-US" dirty="0"/>
              <a:t> technologies enabled the connection of everyday objects to the internet, allowing them to collect and exchange data, communicate with each other, and be remotely controlled or monitored. </a:t>
            </a:r>
          </a:p>
          <a:p>
            <a:pPr marL="285750" indent="-285750">
              <a:lnSpc>
                <a:spcPct val="150000"/>
              </a:lnSpc>
              <a:buFontTx/>
              <a:buChar char="-"/>
            </a:pPr>
            <a:r>
              <a:rPr lang="en-US" dirty="0"/>
              <a:t>This connectivity laid the groundwork for creating intelligent environments that respond to users' needs and preferences.</a:t>
            </a:r>
          </a:p>
          <a:p>
            <a:pPr>
              <a:lnSpc>
                <a:spcPct val="150000"/>
              </a:lnSpc>
            </a:pPr>
            <a:endParaRPr lang="en-US" dirty="0"/>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1440" y="-183383"/>
            <a:ext cx="8971092" cy="620042"/>
          </a:xfrm>
          <a:prstGeom prst="rect">
            <a:avLst/>
          </a:prstGeom>
        </p:spPr>
        <p:txBody>
          <a:bodyPr wrap="square">
            <a:spAutoFit/>
          </a:bodyPr>
          <a:lstStyle/>
          <a:p>
            <a:pPr>
              <a:lnSpc>
                <a:spcPct val="200000"/>
              </a:lnSpc>
            </a:pPr>
            <a:r>
              <a:rPr lang="en-GB" sz="2000" b="1" dirty="0">
                <a:latin typeface="+mj-lt"/>
                <a:cs typeface="Calibri" panose="020F0502020204030204" pitchFamily="34" charset="0"/>
              </a:rPr>
              <a:t>2.0 </a:t>
            </a:r>
            <a:r>
              <a:rPr lang="en-GB" sz="2000" b="1" dirty="0">
                <a:latin typeface="+mj-lt"/>
                <a:cs typeface="Times New Roman" panose="02020603050405020304" pitchFamily="18" charset="0"/>
              </a:rPr>
              <a:t>Introduction </a:t>
            </a: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48043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152400" y="390227"/>
            <a:ext cx="8818692" cy="4478149"/>
          </a:xfrm>
          <a:prstGeom prst="rect">
            <a:avLst/>
          </a:prstGeom>
        </p:spPr>
        <p:txBody>
          <a:bodyPr vert="horz" wrap="square" lIns="0" tIns="0" rIns="0" bIns="0" rtlCol="0">
            <a:spAutoFit/>
          </a:bodyPr>
          <a:lstStyle/>
          <a:p>
            <a:pPr algn="just"/>
            <a:endParaRPr lang="en-GB" dirty="0">
              <a:latin typeface="Times New Roman" panose="02020603050405020304" pitchFamily="18" charset="0"/>
              <a:cs typeface="Times New Roman" panose="02020603050405020304" pitchFamily="18" charset="0"/>
            </a:endParaRPr>
          </a:p>
          <a:p>
            <a:pPr algn="just">
              <a:lnSpc>
                <a:spcPct val="150000"/>
              </a:lnSpc>
            </a:pPr>
            <a:r>
              <a:rPr lang="en-GB" sz="2000" b="1" dirty="0">
                <a:solidFill>
                  <a:srgbClr val="0070C0"/>
                </a:solidFill>
              </a:rPr>
              <a:t>Historical background of Ambient Intelligence</a:t>
            </a:r>
            <a:endParaRPr lang="en-GB" dirty="0"/>
          </a:p>
          <a:p>
            <a:pPr>
              <a:lnSpc>
                <a:spcPct val="150000"/>
              </a:lnSpc>
            </a:pPr>
            <a:endParaRPr lang="en-GB" dirty="0"/>
          </a:p>
          <a:p>
            <a:pPr marL="285750" indent="-285750">
              <a:lnSpc>
                <a:spcPct val="150000"/>
              </a:lnSpc>
              <a:buFont typeface="Wingdings" panose="05000000000000000000" pitchFamily="2" charset="2"/>
              <a:buChar char="v"/>
            </a:pPr>
            <a:r>
              <a:rPr lang="en-US" b="1" dirty="0">
                <a:solidFill>
                  <a:srgbClr val="FF0000"/>
                </a:solidFill>
              </a:rPr>
              <a:t>Artificial Intelligence and Machine Learning: </a:t>
            </a:r>
          </a:p>
          <a:p>
            <a:pPr marL="285750" indent="-285750">
              <a:lnSpc>
                <a:spcPct val="150000"/>
              </a:lnSpc>
              <a:buFontTx/>
              <a:buChar char="-"/>
            </a:pPr>
            <a:r>
              <a:rPr lang="en-US" dirty="0"/>
              <a:t>Advances in artificial intelligence (AI) and machine learning algorithms contributed to the realization of </a:t>
            </a:r>
            <a:r>
              <a:rPr lang="en-US" dirty="0" err="1"/>
              <a:t>AmI</a:t>
            </a:r>
            <a:r>
              <a:rPr lang="en-US" dirty="0"/>
              <a:t> by enabling systems to analyze complex data, learn from user interactions, and make intelligent decisions autonomously. </a:t>
            </a:r>
          </a:p>
          <a:p>
            <a:pPr marL="285750" indent="-285750">
              <a:lnSpc>
                <a:spcPct val="150000"/>
              </a:lnSpc>
              <a:buFontTx/>
              <a:buChar char="-"/>
            </a:pPr>
            <a:r>
              <a:rPr lang="en-US" dirty="0"/>
              <a:t>AI techniques such as pattern recognition, natural language processing, and predictive analytics are essential for creating personalized and adaptive experiences in </a:t>
            </a:r>
            <a:r>
              <a:rPr lang="en-US" dirty="0" err="1"/>
              <a:t>AmI</a:t>
            </a:r>
            <a:r>
              <a:rPr lang="en-US" dirty="0"/>
              <a:t> environments.</a:t>
            </a:r>
          </a:p>
          <a:p>
            <a:pPr>
              <a:lnSpc>
                <a:spcPct val="150000"/>
              </a:lnSpc>
            </a:pPr>
            <a:endParaRPr lang="en-US" dirty="0"/>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1440" y="-183383"/>
            <a:ext cx="8971092" cy="620042"/>
          </a:xfrm>
          <a:prstGeom prst="rect">
            <a:avLst/>
          </a:prstGeom>
        </p:spPr>
        <p:txBody>
          <a:bodyPr wrap="square">
            <a:spAutoFit/>
          </a:bodyPr>
          <a:lstStyle/>
          <a:p>
            <a:pPr>
              <a:lnSpc>
                <a:spcPct val="200000"/>
              </a:lnSpc>
            </a:pPr>
            <a:r>
              <a:rPr lang="en-GB" sz="2000" b="1" dirty="0">
                <a:latin typeface="+mj-lt"/>
                <a:cs typeface="Calibri" panose="020F0502020204030204" pitchFamily="34" charset="0"/>
              </a:rPr>
              <a:t>2.0 </a:t>
            </a:r>
            <a:r>
              <a:rPr lang="en-GB" sz="2000" b="1" dirty="0">
                <a:latin typeface="+mj-lt"/>
                <a:cs typeface="Times New Roman" panose="02020603050405020304" pitchFamily="18" charset="0"/>
              </a:rPr>
              <a:t>Introduction </a:t>
            </a: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10597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152400" y="390227"/>
            <a:ext cx="8818692" cy="4478149"/>
          </a:xfrm>
          <a:prstGeom prst="rect">
            <a:avLst/>
          </a:prstGeom>
        </p:spPr>
        <p:txBody>
          <a:bodyPr vert="horz" wrap="square" lIns="0" tIns="0" rIns="0" bIns="0" rtlCol="0">
            <a:spAutoFit/>
          </a:bodyPr>
          <a:lstStyle/>
          <a:p>
            <a:pPr algn="just"/>
            <a:endParaRPr lang="en-GB" dirty="0">
              <a:latin typeface="Times New Roman" panose="02020603050405020304" pitchFamily="18" charset="0"/>
              <a:cs typeface="Times New Roman" panose="02020603050405020304" pitchFamily="18" charset="0"/>
            </a:endParaRPr>
          </a:p>
          <a:p>
            <a:pPr algn="just">
              <a:lnSpc>
                <a:spcPct val="150000"/>
              </a:lnSpc>
            </a:pPr>
            <a:r>
              <a:rPr lang="en-GB" sz="2000" b="1" dirty="0">
                <a:solidFill>
                  <a:srgbClr val="0070C0"/>
                </a:solidFill>
              </a:rPr>
              <a:t>Historical background of Ambient Intelligence</a:t>
            </a:r>
            <a:endParaRPr lang="en-GB" dirty="0"/>
          </a:p>
          <a:p>
            <a:pPr>
              <a:lnSpc>
                <a:spcPct val="150000"/>
              </a:lnSpc>
            </a:pPr>
            <a:endParaRPr lang="en-GB" dirty="0"/>
          </a:p>
          <a:p>
            <a:pPr marL="285750" indent="-285750">
              <a:lnSpc>
                <a:spcPct val="150000"/>
              </a:lnSpc>
              <a:buFont typeface="Wingdings" panose="05000000000000000000" pitchFamily="2" charset="2"/>
              <a:buChar char="v"/>
            </a:pPr>
            <a:r>
              <a:rPr lang="en-US" b="1" dirty="0">
                <a:solidFill>
                  <a:srgbClr val="FF0000"/>
                </a:solidFill>
              </a:rPr>
              <a:t>Research and Development Initiatives: </a:t>
            </a:r>
          </a:p>
          <a:p>
            <a:pPr marL="285750" indent="-285750">
              <a:lnSpc>
                <a:spcPct val="150000"/>
              </a:lnSpc>
              <a:buFontTx/>
              <a:buChar char="-"/>
            </a:pPr>
            <a:r>
              <a:rPr lang="en-US" dirty="0"/>
              <a:t>Academic research, industry collaborations, and government-funded projects have played a significant role in advancing the field of </a:t>
            </a:r>
            <a:r>
              <a:rPr lang="en-US" dirty="0" err="1"/>
              <a:t>AmI</a:t>
            </a:r>
            <a:r>
              <a:rPr lang="en-US" dirty="0"/>
              <a:t>. </a:t>
            </a:r>
          </a:p>
          <a:p>
            <a:pPr marL="285750" indent="-285750">
              <a:lnSpc>
                <a:spcPct val="150000"/>
              </a:lnSpc>
              <a:buFontTx/>
              <a:buChar char="-"/>
            </a:pPr>
            <a:r>
              <a:rPr lang="en-US" dirty="0"/>
              <a:t>Initiatives such as the European Union's IST </a:t>
            </a:r>
            <a:r>
              <a:rPr lang="en-US" dirty="0" err="1"/>
              <a:t>Programme</a:t>
            </a:r>
            <a:r>
              <a:rPr lang="en-US" dirty="0"/>
              <a:t> (Information Society Technologies </a:t>
            </a:r>
            <a:r>
              <a:rPr lang="en-US" dirty="0" err="1"/>
              <a:t>Programme</a:t>
            </a:r>
            <a:r>
              <a:rPr lang="en-US" dirty="0"/>
              <a:t>) and projects like the </a:t>
            </a:r>
            <a:r>
              <a:rPr lang="en-US" dirty="0" err="1"/>
              <a:t>AmI@Work</a:t>
            </a:r>
            <a:r>
              <a:rPr lang="en-US" dirty="0"/>
              <a:t> and AmI-4-Sports helped drive innovation, explore applications, and address technical challenges in </a:t>
            </a:r>
            <a:r>
              <a:rPr lang="en-US" dirty="0" err="1"/>
              <a:t>AmI</a:t>
            </a:r>
            <a:r>
              <a:rPr lang="en-US" dirty="0"/>
              <a:t> research and development.</a:t>
            </a:r>
          </a:p>
          <a:p>
            <a:pPr>
              <a:lnSpc>
                <a:spcPct val="150000"/>
              </a:lnSpc>
            </a:pPr>
            <a:endParaRPr lang="en-US" dirty="0"/>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1440" y="-183383"/>
            <a:ext cx="8971092" cy="620042"/>
          </a:xfrm>
          <a:prstGeom prst="rect">
            <a:avLst/>
          </a:prstGeom>
        </p:spPr>
        <p:txBody>
          <a:bodyPr wrap="square">
            <a:spAutoFit/>
          </a:bodyPr>
          <a:lstStyle/>
          <a:p>
            <a:pPr>
              <a:lnSpc>
                <a:spcPct val="200000"/>
              </a:lnSpc>
            </a:pPr>
            <a:r>
              <a:rPr lang="en-GB" sz="2000" b="1" dirty="0">
                <a:latin typeface="+mj-lt"/>
                <a:cs typeface="Calibri" panose="020F0502020204030204" pitchFamily="34" charset="0"/>
              </a:rPr>
              <a:t>2.0 </a:t>
            </a:r>
            <a:r>
              <a:rPr lang="en-GB" sz="2000" b="1" dirty="0">
                <a:latin typeface="+mj-lt"/>
                <a:cs typeface="Times New Roman" panose="02020603050405020304" pitchFamily="18" charset="0"/>
              </a:rPr>
              <a:t>Introduction </a:t>
            </a: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16274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88330" y="-231861"/>
            <a:ext cx="8818692" cy="8356134"/>
          </a:xfrm>
          <a:prstGeom prst="rect">
            <a:avLst/>
          </a:prstGeom>
        </p:spPr>
        <p:txBody>
          <a:bodyPr vert="horz" wrap="square" lIns="0" tIns="0" rIns="0" bIns="0" rtlCol="0">
            <a:spAutoFit/>
          </a:bodyPr>
          <a:lstStyle/>
          <a:p>
            <a:pPr algn="just"/>
            <a:endParaRPr lang="en-GB" dirty="0">
              <a:latin typeface="Times New Roman" panose="02020603050405020304" pitchFamily="18" charset="0"/>
              <a:cs typeface="Times New Roman" panose="02020603050405020304" pitchFamily="18" charset="0"/>
            </a:endParaRPr>
          </a:p>
          <a:p>
            <a:pPr algn="just">
              <a:lnSpc>
                <a:spcPct val="150000"/>
              </a:lnSpc>
            </a:pPr>
            <a:endParaRPr lang="en-GB" sz="2000" b="1" dirty="0">
              <a:solidFill>
                <a:srgbClr val="0070C0"/>
              </a:solidFill>
            </a:endParaRPr>
          </a:p>
          <a:p>
            <a:endParaRPr lang="en-US" b="1" dirty="0"/>
          </a:p>
          <a:p>
            <a:endParaRPr lang="en-US" b="1" dirty="0"/>
          </a:p>
          <a:p>
            <a:endParaRPr lang="en-US" b="1" dirty="0"/>
          </a:p>
          <a:p>
            <a:pPr marL="285750" indent="-285750">
              <a:lnSpc>
                <a:spcPct val="150000"/>
              </a:lnSpc>
              <a:buFont typeface="Wingdings" panose="05000000000000000000" pitchFamily="2" charset="2"/>
              <a:buChar char="v"/>
            </a:pPr>
            <a:r>
              <a:rPr lang="en-US" sz="2000" b="1" dirty="0"/>
              <a:t>Sensing</a:t>
            </a:r>
            <a:r>
              <a:rPr lang="en-US" sz="2000" dirty="0"/>
              <a:t>: </a:t>
            </a:r>
            <a:r>
              <a:rPr lang="en-US" sz="2000" dirty="0" err="1"/>
              <a:t>AmI</a:t>
            </a:r>
            <a:r>
              <a:rPr lang="en-US" sz="2000" dirty="0"/>
              <a:t> environments rely on sensors to gather data from the surroundings. These can include temperature sensors, motion detectors, cameras, microphones, and other environmental sensors.</a:t>
            </a:r>
          </a:p>
          <a:p>
            <a:pPr marL="285750" indent="-285750">
              <a:lnSpc>
                <a:spcPct val="150000"/>
              </a:lnSpc>
              <a:buFont typeface="Wingdings" panose="05000000000000000000" pitchFamily="2" charset="2"/>
              <a:buChar char="v"/>
            </a:pPr>
            <a:r>
              <a:rPr lang="en-US" sz="2000" b="1" dirty="0"/>
              <a:t>Processing</a:t>
            </a:r>
            <a:r>
              <a:rPr lang="en-US" sz="2000" dirty="0"/>
              <a:t>: The data collected by sensors is processed by embedded systems or cloud-based services. This involves the use of AI, machine learning, and data analytics to interpret the data and make informed decisions.</a:t>
            </a:r>
          </a:p>
          <a:p>
            <a:pPr marL="285750" indent="-285750">
              <a:lnSpc>
                <a:spcPct val="150000"/>
              </a:lnSpc>
              <a:buFont typeface="Wingdings" panose="05000000000000000000" pitchFamily="2" charset="2"/>
              <a:buChar char="v"/>
            </a:pPr>
            <a:r>
              <a:rPr lang="en-US" sz="2000" b="1" dirty="0"/>
              <a:t>Networking</a:t>
            </a:r>
            <a:r>
              <a:rPr lang="en-US" sz="2000" dirty="0"/>
              <a:t>: Communication networks, both wired and wireless, are crucial for connecting sensors, processors, and actuators. This enables the seamless interaction between different components of the </a:t>
            </a:r>
            <a:r>
              <a:rPr lang="en-US" sz="2000" dirty="0" err="1"/>
              <a:t>AmI</a:t>
            </a:r>
            <a:r>
              <a:rPr lang="en-US" sz="2000" dirty="0"/>
              <a:t> environment.</a:t>
            </a:r>
          </a:p>
          <a:p>
            <a:pPr marL="285750" indent="-285750">
              <a:lnSpc>
                <a:spcPct val="150000"/>
              </a:lnSpc>
              <a:buFont typeface="Wingdings" panose="05000000000000000000" pitchFamily="2" charset="2"/>
              <a:buChar char="v"/>
            </a:pPr>
            <a:endParaRPr lang="en-US" sz="2000" dirty="0"/>
          </a:p>
          <a:p>
            <a:pPr algn="just">
              <a:lnSpc>
                <a:spcPct val="150000"/>
              </a:lnSpc>
            </a:pPr>
            <a:endParaRPr lang="en-GB" dirty="0"/>
          </a:p>
          <a:p>
            <a:pPr>
              <a:lnSpc>
                <a:spcPct val="150000"/>
              </a:lnSpc>
            </a:pPr>
            <a:endParaRPr lang="en-GB" dirty="0"/>
          </a:p>
          <a:p>
            <a:pPr>
              <a:lnSpc>
                <a:spcPct val="150000"/>
              </a:lnSpc>
            </a:pPr>
            <a:endParaRPr lang="en-US" dirty="0"/>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9756" y="-189994"/>
            <a:ext cx="8971092" cy="1323439"/>
          </a:xfrm>
          <a:prstGeom prst="rect">
            <a:avLst/>
          </a:prstGeom>
        </p:spPr>
        <p:txBody>
          <a:bodyPr wrap="square">
            <a:spAutoFit/>
          </a:bodyPr>
          <a:lstStyle/>
          <a:p>
            <a:pPr>
              <a:lnSpc>
                <a:spcPct val="200000"/>
              </a:lnSpc>
            </a:pPr>
            <a:r>
              <a:rPr lang="en-GB" sz="2000" b="1" dirty="0">
                <a:solidFill>
                  <a:srgbClr val="0070C0"/>
                </a:solidFill>
              </a:rPr>
              <a:t>3.0</a:t>
            </a:r>
            <a:r>
              <a:rPr lang="en-GB" sz="2000" b="1" dirty="0">
                <a:latin typeface="+mj-lt"/>
                <a:cs typeface="Calibri" panose="020F0502020204030204" pitchFamily="34" charset="0"/>
              </a:rPr>
              <a:t> </a:t>
            </a:r>
            <a:r>
              <a:rPr lang="en-US" sz="2000" b="1" dirty="0">
                <a:solidFill>
                  <a:srgbClr val="0070C0"/>
                </a:solidFill>
              </a:rPr>
              <a:t>Core Components of Ambient Intelligence</a:t>
            </a:r>
            <a:endParaRPr lang="en-GB" sz="2000" b="1" dirty="0">
              <a:solidFill>
                <a:srgbClr val="0070C0"/>
              </a:solidFill>
            </a:endParaRPr>
          </a:p>
          <a:p>
            <a:pPr>
              <a:lnSpc>
                <a:spcPct val="200000"/>
              </a:lnSpc>
            </a:pPr>
            <a:r>
              <a:rPr lang="en-GB" sz="2000" b="1" dirty="0">
                <a:latin typeface="+mj-lt"/>
                <a:cs typeface="Times New Roman" panose="02020603050405020304" pitchFamily="18" charset="0"/>
              </a:rPr>
              <a:t>What are the core components of Ambient Intelligence?</a:t>
            </a: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98043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88330" y="-231861"/>
            <a:ext cx="8818692" cy="6924973"/>
          </a:xfrm>
          <a:prstGeom prst="rect">
            <a:avLst/>
          </a:prstGeom>
        </p:spPr>
        <p:txBody>
          <a:bodyPr vert="horz" wrap="square" lIns="0" tIns="0" rIns="0" bIns="0" rtlCol="0">
            <a:spAutoFit/>
          </a:bodyPr>
          <a:lstStyle/>
          <a:p>
            <a:pPr algn="just"/>
            <a:endParaRPr lang="en-GB" dirty="0">
              <a:latin typeface="Times New Roman" panose="02020603050405020304" pitchFamily="18" charset="0"/>
              <a:cs typeface="Times New Roman" panose="02020603050405020304" pitchFamily="18" charset="0"/>
            </a:endParaRPr>
          </a:p>
          <a:p>
            <a:pPr algn="just">
              <a:lnSpc>
                <a:spcPct val="150000"/>
              </a:lnSpc>
            </a:pPr>
            <a:endParaRPr lang="en-GB" sz="2000" b="1" dirty="0">
              <a:solidFill>
                <a:srgbClr val="0070C0"/>
              </a:solidFill>
            </a:endParaRPr>
          </a:p>
          <a:p>
            <a:endParaRPr lang="en-US" b="1" dirty="0"/>
          </a:p>
          <a:p>
            <a:pPr marL="285750" indent="-285750">
              <a:lnSpc>
                <a:spcPct val="150000"/>
              </a:lnSpc>
              <a:buFont typeface="Wingdings" panose="05000000000000000000" pitchFamily="2" charset="2"/>
              <a:buChar char="v"/>
            </a:pPr>
            <a:r>
              <a:rPr lang="en-US" sz="2000" b="1" dirty="0"/>
              <a:t>Actuation /Actuators</a:t>
            </a:r>
            <a:r>
              <a:rPr lang="en-US" sz="2000" dirty="0"/>
              <a:t>: Based on the processed data, actuators execute actions. These could range from adjusting the lighting and temperature to sending notifications or controlling appliances.</a:t>
            </a:r>
          </a:p>
          <a:p>
            <a:pPr marL="285750" indent="-285750">
              <a:lnSpc>
                <a:spcPct val="150000"/>
              </a:lnSpc>
              <a:buFont typeface="Wingdings" panose="05000000000000000000" pitchFamily="2" charset="2"/>
              <a:buChar char="v"/>
            </a:pPr>
            <a:endParaRPr lang="en-US" sz="2000" dirty="0"/>
          </a:p>
          <a:p>
            <a:pPr marL="285750" indent="-285750" algn="just">
              <a:lnSpc>
                <a:spcPct val="150000"/>
              </a:lnSpc>
              <a:buFontTx/>
              <a:buChar char="-"/>
            </a:pPr>
            <a:r>
              <a:rPr lang="en-US" sz="2000" i="1" dirty="0"/>
              <a:t>In the context of Ambient Intelligence (</a:t>
            </a:r>
            <a:r>
              <a:rPr lang="en-US" sz="2000" i="1" dirty="0" err="1"/>
              <a:t>AmI</a:t>
            </a:r>
            <a:r>
              <a:rPr lang="en-US" sz="2000" i="1" dirty="0"/>
              <a:t>), actuators play a vital role in enabling smart environments to respond to users' needs and preferences. </a:t>
            </a:r>
          </a:p>
          <a:p>
            <a:pPr marL="285750" indent="-285750" algn="just">
              <a:lnSpc>
                <a:spcPct val="150000"/>
              </a:lnSpc>
              <a:buFontTx/>
              <a:buChar char="-"/>
            </a:pPr>
            <a:r>
              <a:rPr lang="en-US" sz="2000" i="1" dirty="0">
                <a:solidFill>
                  <a:srgbClr val="FF0000"/>
                </a:solidFill>
              </a:rPr>
              <a:t>Actuators </a:t>
            </a:r>
            <a:r>
              <a:rPr lang="en-US" sz="2000" i="1" dirty="0"/>
              <a:t>in </a:t>
            </a:r>
            <a:r>
              <a:rPr lang="en-US" sz="2000" i="1" dirty="0" err="1"/>
              <a:t>AmI</a:t>
            </a:r>
            <a:r>
              <a:rPr lang="en-US" sz="2000" i="1" dirty="0"/>
              <a:t> systems are devices that translate electronic signals or data inputs into physical actions or adjustments within the environment. They work in conjunction with sensors and other components to create adaptive and responsive spaces.</a:t>
            </a:r>
            <a:endParaRPr lang="en-GB" sz="2000" i="1" dirty="0"/>
          </a:p>
          <a:p>
            <a:pPr>
              <a:lnSpc>
                <a:spcPct val="150000"/>
              </a:lnSpc>
            </a:pPr>
            <a:endParaRPr lang="en-GB" dirty="0"/>
          </a:p>
          <a:p>
            <a:pPr>
              <a:lnSpc>
                <a:spcPct val="150000"/>
              </a:lnSpc>
            </a:pPr>
            <a:endParaRPr lang="en-US" dirty="0"/>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9756" y="-189994"/>
            <a:ext cx="8971092" cy="612925"/>
          </a:xfrm>
          <a:prstGeom prst="rect">
            <a:avLst/>
          </a:prstGeom>
        </p:spPr>
        <p:txBody>
          <a:bodyPr wrap="square">
            <a:spAutoFit/>
          </a:bodyPr>
          <a:lstStyle/>
          <a:p>
            <a:pPr>
              <a:lnSpc>
                <a:spcPct val="200000"/>
              </a:lnSpc>
            </a:pPr>
            <a:r>
              <a:rPr lang="en-GB" sz="2000" b="1" dirty="0">
                <a:solidFill>
                  <a:srgbClr val="0070C0"/>
                </a:solidFill>
              </a:rPr>
              <a:t>3.0</a:t>
            </a:r>
            <a:r>
              <a:rPr lang="en-GB" sz="2000" b="1" dirty="0">
                <a:latin typeface="+mj-lt"/>
                <a:cs typeface="Calibri" panose="020F0502020204030204" pitchFamily="34" charset="0"/>
              </a:rPr>
              <a:t> </a:t>
            </a:r>
            <a:r>
              <a:rPr lang="en-US" sz="2000" b="1" dirty="0">
                <a:solidFill>
                  <a:srgbClr val="0070C0"/>
                </a:solidFill>
              </a:rPr>
              <a:t>Core Components of Ambient Intelligence</a:t>
            </a:r>
            <a:endParaRPr lang="en-GB" sz="2000" b="1" dirty="0">
              <a:solidFill>
                <a:srgbClr val="0070C0"/>
              </a:solidFill>
            </a:endParaRP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48205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88330" y="-231861"/>
            <a:ext cx="8818692" cy="8633133"/>
          </a:xfrm>
          <a:prstGeom prst="rect">
            <a:avLst/>
          </a:prstGeom>
        </p:spPr>
        <p:txBody>
          <a:bodyPr vert="horz" wrap="square" lIns="0" tIns="0" rIns="0" bIns="0" rtlCol="0">
            <a:spAutoFit/>
          </a:bodyPr>
          <a:lstStyle/>
          <a:p>
            <a:pPr algn="just"/>
            <a:endParaRPr lang="en-GB" dirty="0">
              <a:latin typeface="Times New Roman" panose="02020603050405020304" pitchFamily="18" charset="0"/>
              <a:cs typeface="Times New Roman" panose="02020603050405020304" pitchFamily="18" charset="0"/>
            </a:endParaRPr>
          </a:p>
          <a:p>
            <a:pPr algn="just">
              <a:lnSpc>
                <a:spcPct val="150000"/>
              </a:lnSpc>
            </a:pPr>
            <a:endParaRPr lang="en-GB" sz="2000" b="1" dirty="0">
              <a:solidFill>
                <a:srgbClr val="0070C0"/>
              </a:solidFill>
            </a:endParaRPr>
          </a:p>
          <a:p>
            <a:pPr>
              <a:lnSpc>
                <a:spcPct val="150000"/>
              </a:lnSpc>
            </a:pPr>
            <a:endParaRPr lang="en-US" b="1" dirty="0"/>
          </a:p>
          <a:p>
            <a:pPr>
              <a:lnSpc>
                <a:spcPct val="150000"/>
              </a:lnSpc>
            </a:pPr>
            <a:r>
              <a:rPr lang="en-US" dirty="0"/>
              <a:t>Here are some examples of how actuators are used in Ambient Intelligence;</a:t>
            </a:r>
          </a:p>
          <a:p>
            <a:pPr>
              <a:lnSpc>
                <a:spcPct val="150000"/>
              </a:lnSpc>
            </a:pPr>
            <a:endParaRPr lang="en-US" dirty="0"/>
          </a:p>
          <a:p>
            <a:pPr>
              <a:lnSpc>
                <a:spcPct val="150000"/>
              </a:lnSpc>
            </a:pPr>
            <a:r>
              <a:rPr lang="en-US" b="1" dirty="0">
                <a:solidFill>
                  <a:srgbClr val="FF0000"/>
                </a:solidFill>
              </a:rPr>
              <a:t>- Lighting Control</a:t>
            </a:r>
            <a:r>
              <a:rPr lang="en-US" dirty="0">
                <a:solidFill>
                  <a:srgbClr val="FF0000"/>
                </a:solidFill>
              </a:rPr>
              <a:t>: </a:t>
            </a:r>
            <a:r>
              <a:rPr lang="en-US" dirty="0"/>
              <a:t>Actuators can control lighting systems in smart environments, adjusting brightness levels, color temperature, and lighting patterns based on factors such as occupancy, time of day, or user preferences. For example, smart lighting systems can dim or turn off lights in unoccupied rooms to conserve energy, or they can simulate natural lighting conditions to enhance productivity and well-being.</a:t>
            </a:r>
          </a:p>
          <a:p>
            <a:pPr>
              <a:lnSpc>
                <a:spcPct val="150000"/>
              </a:lnSpc>
            </a:pPr>
            <a:endParaRPr lang="en-GB" dirty="0"/>
          </a:p>
          <a:p>
            <a:pPr>
              <a:lnSpc>
                <a:spcPct val="150000"/>
              </a:lnSpc>
            </a:pPr>
            <a:r>
              <a:rPr lang="en-US" b="1" dirty="0">
                <a:solidFill>
                  <a:srgbClr val="FF0000"/>
                </a:solidFill>
              </a:rPr>
              <a:t>- HVAC (Heating, Ventilation, and Air Conditioning) Systems: </a:t>
            </a:r>
            <a:r>
              <a:rPr lang="en-US" dirty="0"/>
              <a:t>Actuators are used to control HVAC systems in smart buildings, regulating temperature, humidity, and air quality to create comfortable and energy-efficient indoor environments. HVAC actuators can adjust damper positions, valve openings, fan speeds, and heating/cooling outputs in response to occupancy patterns, weather conditions, or user preferences.</a:t>
            </a:r>
            <a:endParaRPr lang="en-GB" sz="2000" dirty="0"/>
          </a:p>
          <a:p>
            <a:pPr algn="just">
              <a:lnSpc>
                <a:spcPct val="150000"/>
              </a:lnSpc>
            </a:pPr>
            <a:endParaRPr lang="en-GB" dirty="0"/>
          </a:p>
          <a:p>
            <a:pPr algn="just">
              <a:lnSpc>
                <a:spcPct val="150000"/>
              </a:lnSpc>
            </a:pPr>
            <a:endParaRPr lang="en-GB" dirty="0"/>
          </a:p>
          <a:p>
            <a:pPr>
              <a:lnSpc>
                <a:spcPct val="150000"/>
              </a:lnSpc>
            </a:pPr>
            <a:endParaRPr lang="en-GB" dirty="0"/>
          </a:p>
          <a:p>
            <a:pPr>
              <a:lnSpc>
                <a:spcPct val="150000"/>
              </a:lnSpc>
            </a:pPr>
            <a:endParaRPr lang="en-US" dirty="0"/>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9756" y="-189994"/>
            <a:ext cx="8971092" cy="612925"/>
          </a:xfrm>
          <a:prstGeom prst="rect">
            <a:avLst/>
          </a:prstGeom>
        </p:spPr>
        <p:txBody>
          <a:bodyPr wrap="square">
            <a:spAutoFit/>
          </a:bodyPr>
          <a:lstStyle/>
          <a:p>
            <a:pPr>
              <a:lnSpc>
                <a:spcPct val="200000"/>
              </a:lnSpc>
            </a:pPr>
            <a:r>
              <a:rPr lang="en-GB" sz="2000" b="1" dirty="0">
                <a:solidFill>
                  <a:srgbClr val="0070C0"/>
                </a:solidFill>
              </a:rPr>
              <a:t>3.0</a:t>
            </a:r>
            <a:r>
              <a:rPr lang="en-GB" sz="2000" b="1" dirty="0">
                <a:latin typeface="+mj-lt"/>
                <a:cs typeface="Calibri" panose="020F0502020204030204" pitchFamily="34" charset="0"/>
              </a:rPr>
              <a:t> </a:t>
            </a:r>
            <a:r>
              <a:rPr lang="en-US" sz="2000" b="1" dirty="0">
                <a:solidFill>
                  <a:srgbClr val="0070C0"/>
                </a:solidFill>
              </a:rPr>
              <a:t>Core Components of Ambient Intelligence</a:t>
            </a:r>
            <a:endParaRPr lang="en-GB" sz="2000" b="1" dirty="0">
              <a:solidFill>
                <a:srgbClr val="0070C0"/>
              </a:solidFill>
            </a:endParaRP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54196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88330" y="-231861"/>
            <a:ext cx="8818692" cy="6971139"/>
          </a:xfrm>
          <a:prstGeom prst="rect">
            <a:avLst/>
          </a:prstGeom>
        </p:spPr>
        <p:txBody>
          <a:bodyPr vert="horz" wrap="square" lIns="0" tIns="0" rIns="0" bIns="0" rtlCol="0">
            <a:spAutoFit/>
          </a:bodyPr>
          <a:lstStyle/>
          <a:p>
            <a:pPr algn="just"/>
            <a:endParaRPr lang="en-GB" dirty="0">
              <a:latin typeface="Times New Roman" panose="02020603050405020304" pitchFamily="18" charset="0"/>
              <a:cs typeface="Times New Roman" panose="02020603050405020304" pitchFamily="18" charset="0"/>
            </a:endParaRPr>
          </a:p>
          <a:p>
            <a:pPr algn="just">
              <a:lnSpc>
                <a:spcPct val="150000"/>
              </a:lnSpc>
            </a:pPr>
            <a:endParaRPr lang="en-GB" sz="2000" b="1" dirty="0">
              <a:solidFill>
                <a:srgbClr val="0070C0"/>
              </a:solidFill>
            </a:endParaRPr>
          </a:p>
          <a:p>
            <a:pPr>
              <a:lnSpc>
                <a:spcPct val="150000"/>
              </a:lnSpc>
            </a:pPr>
            <a:r>
              <a:rPr lang="en-GB" b="1" dirty="0"/>
              <a:t>Actuators examples;</a:t>
            </a:r>
          </a:p>
          <a:p>
            <a:pPr>
              <a:lnSpc>
                <a:spcPct val="150000"/>
              </a:lnSpc>
            </a:pPr>
            <a:endParaRPr lang="en-US" dirty="0"/>
          </a:p>
          <a:p>
            <a:pPr marL="285750" indent="-285750">
              <a:lnSpc>
                <a:spcPct val="150000"/>
              </a:lnSpc>
              <a:buFontTx/>
              <a:buChar char="-"/>
            </a:pPr>
            <a:r>
              <a:rPr lang="en-US" b="1" dirty="0">
                <a:solidFill>
                  <a:srgbClr val="FF0000"/>
                </a:solidFill>
              </a:rPr>
              <a:t>Security Systems: </a:t>
            </a:r>
            <a:r>
              <a:rPr lang="en-US" dirty="0"/>
              <a:t>Actuators are used in security systems to control locks, doors, windows, and other physical barriers. Smart door locks, for example, can be remotely controlled or automatically locked/unlocked based on user proximity or authentication. Actuators can also trigger alarms, close shutters, or activate barriers in response to security threats or emergencies.</a:t>
            </a:r>
          </a:p>
          <a:p>
            <a:pPr marL="285750" indent="-285750">
              <a:lnSpc>
                <a:spcPct val="150000"/>
              </a:lnSpc>
              <a:buFontTx/>
              <a:buChar char="-"/>
            </a:pPr>
            <a:endParaRPr lang="en-US" dirty="0"/>
          </a:p>
          <a:p>
            <a:pPr marL="285750" indent="-285750">
              <a:lnSpc>
                <a:spcPct val="150000"/>
              </a:lnSpc>
              <a:buFontTx/>
              <a:buChar char="-"/>
            </a:pPr>
            <a:r>
              <a:rPr lang="en-US" b="1" dirty="0">
                <a:solidFill>
                  <a:srgbClr val="FF0000"/>
                </a:solidFill>
              </a:rPr>
              <a:t>Audio-Visual Systems: </a:t>
            </a:r>
            <a:r>
              <a:rPr lang="en-US" dirty="0"/>
              <a:t>Actuators can control audio-visual equipment such as speakers, displays, projectors, and screens in smart environments. For example, actuators can adjust volume levels, switch between audio/video sources, or change display configurations based on user preferences, room occupancy, or multimedia content being presented.</a:t>
            </a:r>
          </a:p>
          <a:p>
            <a:pPr>
              <a:lnSpc>
                <a:spcPct val="150000"/>
              </a:lnSpc>
            </a:pPr>
            <a:endParaRPr lang="en-GB" dirty="0"/>
          </a:p>
          <a:p>
            <a:pPr>
              <a:lnSpc>
                <a:spcPct val="150000"/>
              </a:lnSpc>
            </a:pPr>
            <a:endParaRPr lang="en-US" dirty="0"/>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9756" y="-189994"/>
            <a:ext cx="8971092" cy="612925"/>
          </a:xfrm>
          <a:prstGeom prst="rect">
            <a:avLst/>
          </a:prstGeom>
        </p:spPr>
        <p:txBody>
          <a:bodyPr wrap="square">
            <a:spAutoFit/>
          </a:bodyPr>
          <a:lstStyle/>
          <a:p>
            <a:pPr>
              <a:lnSpc>
                <a:spcPct val="200000"/>
              </a:lnSpc>
            </a:pPr>
            <a:r>
              <a:rPr lang="en-GB" sz="2000" b="1" dirty="0">
                <a:solidFill>
                  <a:srgbClr val="0070C0"/>
                </a:solidFill>
              </a:rPr>
              <a:t>3.0</a:t>
            </a:r>
            <a:r>
              <a:rPr lang="en-GB" sz="2000" b="1" dirty="0">
                <a:latin typeface="+mj-lt"/>
                <a:cs typeface="Calibri" panose="020F0502020204030204" pitchFamily="34" charset="0"/>
              </a:rPr>
              <a:t> </a:t>
            </a:r>
            <a:r>
              <a:rPr lang="en-US" sz="2000" b="1" dirty="0">
                <a:solidFill>
                  <a:srgbClr val="0070C0"/>
                </a:solidFill>
              </a:rPr>
              <a:t>Core Components of Ambient Intelligence</a:t>
            </a:r>
            <a:endParaRPr lang="en-GB" sz="2000" b="1" dirty="0">
              <a:solidFill>
                <a:srgbClr val="0070C0"/>
              </a:solidFill>
            </a:endParaRP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83808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88330" y="-231861"/>
            <a:ext cx="8818692" cy="8848576"/>
          </a:xfrm>
          <a:prstGeom prst="rect">
            <a:avLst/>
          </a:prstGeom>
        </p:spPr>
        <p:txBody>
          <a:bodyPr vert="horz" wrap="square" lIns="0" tIns="0" rIns="0" bIns="0" rtlCol="0">
            <a:spAutoFit/>
          </a:bodyPr>
          <a:lstStyle/>
          <a:p>
            <a:pPr marL="285750" indent="-285750" algn="just">
              <a:buFont typeface="Wingdings" panose="05000000000000000000" pitchFamily="2" charset="2"/>
              <a:buChar char="v"/>
            </a:pPr>
            <a:endParaRPr lang="en-GB"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v"/>
            </a:pPr>
            <a:endParaRPr lang="en-GB" sz="2000" b="1" dirty="0">
              <a:solidFill>
                <a:srgbClr val="0070C0"/>
              </a:solidFill>
            </a:endParaRPr>
          </a:p>
          <a:p>
            <a:pPr marL="285750" indent="-285750">
              <a:buFont typeface="Wingdings" panose="05000000000000000000" pitchFamily="2" charset="2"/>
              <a:buChar char="v"/>
            </a:pPr>
            <a:endParaRPr lang="en-US" b="1" dirty="0"/>
          </a:p>
          <a:p>
            <a:pPr marL="342900" indent="-342900">
              <a:lnSpc>
                <a:spcPct val="150000"/>
              </a:lnSpc>
              <a:buFont typeface="Wingdings" panose="05000000000000000000" pitchFamily="2" charset="2"/>
              <a:buChar char="v"/>
            </a:pPr>
            <a:r>
              <a:rPr lang="en-US" sz="2000" b="1" dirty="0"/>
              <a:t>Context Awareness</a:t>
            </a:r>
            <a:r>
              <a:rPr lang="en-US" sz="2000" dirty="0"/>
              <a:t>: </a:t>
            </a:r>
            <a:r>
              <a:rPr lang="en-US" sz="2000" dirty="0" err="1"/>
              <a:t>AmI</a:t>
            </a:r>
            <a:r>
              <a:rPr lang="en-US" sz="2000" dirty="0"/>
              <a:t> systems can understand and interpret the context in which they operate. This involves recognizing the presence and activities of individuals and adapting the environment accordingly.</a:t>
            </a:r>
          </a:p>
          <a:p>
            <a:pPr marL="342900" indent="-342900">
              <a:lnSpc>
                <a:spcPct val="150000"/>
              </a:lnSpc>
              <a:buFont typeface="Wingdings" panose="05000000000000000000" pitchFamily="2" charset="2"/>
              <a:buChar char="v"/>
            </a:pPr>
            <a:r>
              <a:rPr lang="en-US" sz="2000" b="1" dirty="0"/>
              <a:t>Personalization</a:t>
            </a:r>
            <a:r>
              <a:rPr lang="en-US" sz="2000" dirty="0"/>
              <a:t>: These systems can learn and adapt to the preferences and behaviors of individuals over time, providing a customized experience.</a:t>
            </a:r>
          </a:p>
          <a:p>
            <a:pPr marL="342900" indent="-342900">
              <a:lnSpc>
                <a:spcPct val="150000"/>
              </a:lnSpc>
              <a:buFont typeface="Wingdings" panose="05000000000000000000" pitchFamily="2" charset="2"/>
              <a:buChar char="v"/>
            </a:pPr>
            <a:r>
              <a:rPr lang="en-US" sz="2000" b="1" dirty="0"/>
              <a:t>Adaptiveness</a:t>
            </a:r>
            <a:r>
              <a:rPr lang="en-US" sz="2000" dirty="0"/>
              <a:t>: </a:t>
            </a:r>
            <a:r>
              <a:rPr lang="en-US" sz="2000" dirty="0" err="1"/>
              <a:t>AmI</a:t>
            </a:r>
            <a:r>
              <a:rPr lang="en-US" sz="2000" dirty="0"/>
              <a:t> environments can dynamically change their behavior in response to the changing conditions and needs of users.</a:t>
            </a:r>
          </a:p>
          <a:p>
            <a:pPr marL="342900" indent="-342900">
              <a:lnSpc>
                <a:spcPct val="150000"/>
              </a:lnSpc>
              <a:buFont typeface="Wingdings" panose="05000000000000000000" pitchFamily="2" charset="2"/>
              <a:buChar char="v"/>
            </a:pPr>
            <a:r>
              <a:rPr lang="en-US" sz="2000" b="1" dirty="0"/>
              <a:t>Transparency</a:t>
            </a:r>
            <a:r>
              <a:rPr lang="en-US" sz="2000" dirty="0"/>
              <a:t>: The technology operates in the background without intruding on the user's activities, making interactions seamless and intuitive.</a:t>
            </a:r>
          </a:p>
          <a:p>
            <a:pPr marL="342900" indent="-342900">
              <a:lnSpc>
                <a:spcPct val="150000"/>
              </a:lnSpc>
              <a:buFont typeface="Wingdings" panose="05000000000000000000" pitchFamily="2" charset="2"/>
              <a:buChar char="v"/>
            </a:pPr>
            <a:r>
              <a:rPr lang="en-US" sz="2000" b="1" dirty="0"/>
              <a:t>Ubiquity</a:t>
            </a:r>
            <a:r>
              <a:rPr lang="en-US" sz="2000" dirty="0"/>
              <a:t>: </a:t>
            </a:r>
            <a:r>
              <a:rPr lang="en-US" sz="2000" dirty="0" err="1"/>
              <a:t>AmI</a:t>
            </a:r>
            <a:r>
              <a:rPr lang="en-US" sz="2000" dirty="0"/>
              <a:t> systems are embedded in everyday objects and spaces, providing pervasive and continuous service.</a:t>
            </a:r>
          </a:p>
          <a:p>
            <a:pPr marL="285750" indent="-285750">
              <a:buFont typeface="Wingdings" panose="05000000000000000000" pitchFamily="2" charset="2"/>
              <a:buChar char="v"/>
            </a:pPr>
            <a:endParaRPr lang="en-GB" b="1" dirty="0"/>
          </a:p>
          <a:p>
            <a:pPr marL="342900" indent="-342900">
              <a:buFont typeface="Wingdings" panose="05000000000000000000" pitchFamily="2" charset="2"/>
              <a:buChar char="v"/>
            </a:pPr>
            <a:endParaRPr lang="en-US" sz="2000" dirty="0"/>
          </a:p>
          <a:p>
            <a:pPr marL="285750" indent="-285750" algn="just">
              <a:lnSpc>
                <a:spcPct val="150000"/>
              </a:lnSpc>
              <a:buFont typeface="Wingdings" panose="05000000000000000000" pitchFamily="2" charset="2"/>
              <a:buChar char="v"/>
            </a:pPr>
            <a:endParaRPr lang="en-GB" dirty="0"/>
          </a:p>
          <a:p>
            <a:pPr marL="285750" indent="-285750">
              <a:lnSpc>
                <a:spcPct val="150000"/>
              </a:lnSpc>
              <a:buFont typeface="Wingdings" panose="05000000000000000000" pitchFamily="2" charset="2"/>
              <a:buChar char="v"/>
            </a:pPr>
            <a:endParaRPr lang="en-GB" dirty="0"/>
          </a:p>
          <a:p>
            <a:pPr marL="285750" indent="-285750">
              <a:lnSpc>
                <a:spcPct val="150000"/>
              </a:lnSpc>
              <a:buFont typeface="Wingdings" panose="05000000000000000000" pitchFamily="2" charset="2"/>
              <a:buChar char="v"/>
            </a:pPr>
            <a:endParaRPr lang="en-US" dirty="0"/>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9756" y="-189994"/>
            <a:ext cx="8971092" cy="707886"/>
          </a:xfrm>
          <a:prstGeom prst="rect">
            <a:avLst/>
          </a:prstGeom>
        </p:spPr>
        <p:txBody>
          <a:bodyPr wrap="square">
            <a:spAutoFit/>
          </a:bodyPr>
          <a:lstStyle/>
          <a:p>
            <a:pPr>
              <a:lnSpc>
                <a:spcPct val="200000"/>
              </a:lnSpc>
            </a:pPr>
            <a:r>
              <a:rPr lang="en-GB" sz="2000" b="1" dirty="0">
                <a:solidFill>
                  <a:srgbClr val="0070C0"/>
                </a:solidFill>
              </a:rPr>
              <a:t>4.0</a:t>
            </a:r>
            <a:r>
              <a:rPr lang="en-GB" sz="2000" b="1" dirty="0">
                <a:latin typeface="+mj-lt"/>
                <a:cs typeface="Calibri" panose="020F0502020204030204" pitchFamily="34" charset="0"/>
              </a:rPr>
              <a:t> </a:t>
            </a:r>
            <a:r>
              <a:rPr lang="en-US" sz="2000" b="1" dirty="0">
                <a:solidFill>
                  <a:srgbClr val="0070C0"/>
                </a:solidFill>
              </a:rPr>
              <a:t>Key Characteristics of Ambient Intelligence</a:t>
            </a:r>
            <a:endParaRPr lang="en-GB" sz="2000" b="1" dirty="0">
              <a:latin typeface="+mj-lt"/>
              <a:cs typeface="Times New Roman" panose="02020603050405020304" pitchFamily="18" charset="0"/>
            </a:endParaRP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03096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88330" y="-231861"/>
            <a:ext cx="8818692" cy="3647152"/>
          </a:xfrm>
          <a:prstGeom prst="rect">
            <a:avLst/>
          </a:prstGeom>
        </p:spPr>
        <p:txBody>
          <a:bodyPr vert="horz" wrap="square" lIns="0" tIns="0" rIns="0" bIns="0" rtlCol="0">
            <a:spAutoFit/>
          </a:bodyPr>
          <a:lstStyle/>
          <a:p>
            <a:pPr algn="just"/>
            <a:endParaRPr lang="en-GB" dirty="0">
              <a:latin typeface="Times New Roman" panose="02020603050405020304" pitchFamily="18" charset="0"/>
              <a:cs typeface="Times New Roman" panose="02020603050405020304" pitchFamily="18" charset="0"/>
            </a:endParaRPr>
          </a:p>
          <a:p>
            <a:pPr algn="just">
              <a:lnSpc>
                <a:spcPct val="150000"/>
              </a:lnSpc>
            </a:pPr>
            <a:endParaRPr lang="en-GB" sz="2000" b="1" dirty="0">
              <a:solidFill>
                <a:srgbClr val="0070C0"/>
              </a:solidFill>
            </a:endParaRPr>
          </a:p>
          <a:p>
            <a:pPr marL="285750" indent="-285750" algn="just">
              <a:lnSpc>
                <a:spcPct val="150000"/>
              </a:lnSpc>
              <a:buFont typeface="Wingdings" panose="05000000000000000000" pitchFamily="2" charset="2"/>
              <a:buChar char="v"/>
            </a:pPr>
            <a:r>
              <a:rPr lang="en-US" dirty="0"/>
              <a:t>Ambient Intelligence (</a:t>
            </a:r>
            <a:r>
              <a:rPr lang="en-US" dirty="0" err="1"/>
              <a:t>AmI</a:t>
            </a:r>
            <a:r>
              <a:rPr lang="en-US" dirty="0"/>
              <a:t>) cuts across multidisciplinary technologies, drawing from various fields to create intelligent environments that seamlessly interact with users and adapt to their needs. </a:t>
            </a:r>
          </a:p>
          <a:p>
            <a:pPr algn="just">
              <a:lnSpc>
                <a:spcPct val="150000"/>
              </a:lnSpc>
            </a:pPr>
            <a:r>
              <a:rPr lang="en-US" dirty="0"/>
              <a:t> - See a summary below; </a:t>
            </a:r>
            <a:endParaRPr lang="en-US" sz="2000" dirty="0"/>
          </a:p>
          <a:p>
            <a:pPr algn="just">
              <a:lnSpc>
                <a:spcPct val="150000"/>
              </a:lnSpc>
            </a:pPr>
            <a:endParaRPr lang="en-GB" dirty="0"/>
          </a:p>
          <a:p>
            <a:pPr>
              <a:lnSpc>
                <a:spcPct val="150000"/>
              </a:lnSpc>
            </a:pPr>
            <a:endParaRPr lang="en-GB" dirty="0"/>
          </a:p>
          <a:p>
            <a:pPr>
              <a:lnSpc>
                <a:spcPct val="150000"/>
              </a:lnSpc>
            </a:pPr>
            <a:endParaRPr lang="en-US" dirty="0"/>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9756" y="-189994"/>
            <a:ext cx="8971092" cy="1323439"/>
          </a:xfrm>
          <a:prstGeom prst="rect">
            <a:avLst/>
          </a:prstGeom>
        </p:spPr>
        <p:txBody>
          <a:bodyPr wrap="square">
            <a:spAutoFit/>
          </a:bodyPr>
          <a:lstStyle/>
          <a:p>
            <a:pPr>
              <a:lnSpc>
                <a:spcPct val="200000"/>
              </a:lnSpc>
            </a:pPr>
            <a:r>
              <a:rPr lang="en-GB" sz="2000" b="1" dirty="0">
                <a:solidFill>
                  <a:srgbClr val="0070C0"/>
                </a:solidFill>
              </a:rPr>
              <a:t>5.0</a:t>
            </a:r>
            <a:r>
              <a:rPr lang="en-GB" sz="2000" b="1" dirty="0">
                <a:latin typeface="+mj-lt"/>
                <a:cs typeface="Calibri" panose="020F0502020204030204" pitchFamily="34" charset="0"/>
              </a:rPr>
              <a:t> </a:t>
            </a:r>
            <a:r>
              <a:rPr lang="en-GB" sz="2000" b="1" dirty="0">
                <a:solidFill>
                  <a:srgbClr val="0070C0"/>
                </a:solidFill>
              </a:rPr>
              <a:t>Ambient Intelligence enabling Technologies</a:t>
            </a:r>
          </a:p>
          <a:p>
            <a:pPr>
              <a:lnSpc>
                <a:spcPct val="200000"/>
              </a:lnSpc>
            </a:pPr>
            <a:endParaRPr lang="en-GB" sz="2000" b="1" dirty="0">
              <a:latin typeface="+mj-lt"/>
              <a:cs typeface="Times New Roman" panose="02020603050405020304" pitchFamily="18" charset="0"/>
            </a:endParaRP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grpSp>
        <p:nvGrpSpPr>
          <p:cNvPr id="9" name="Group 8"/>
          <p:cNvGrpSpPr/>
          <p:nvPr/>
        </p:nvGrpSpPr>
        <p:grpSpPr>
          <a:xfrm>
            <a:off x="1295399" y="2209801"/>
            <a:ext cx="4724401" cy="3962400"/>
            <a:chOff x="0" y="0"/>
            <a:chExt cx="5836920" cy="4290060"/>
          </a:xfrm>
        </p:grpSpPr>
        <p:sp>
          <p:nvSpPr>
            <p:cNvPr id="10" name="Oval 9"/>
            <p:cNvSpPr/>
            <p:nvPr/>
          </p:nvSpPr>
          <p:spPr>
            <a:xfrm>
              <a:off x="2019300" y="1554480"/>
              <a:ext cx="1851660" cy="1295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sz="1100" b="1">
                  <a:solidFill>
                    <a:srgbClr val="002060"/>
                  </a:solidFill>
                  <a:effectLst/>
                  <a:ea typeface="Calibri" panose="020F0502020204030204" pitchFamily="34" charset="0"/>
                  <a:cs typeface="Times New Roman" panose="02020603050405020304" pitchFamily="18" charset="0"/>
                </a:rPr>
                <a:t>Aml</a:t>
              </a:r>
              <a:endParaRPr lang="en-US" sz="1100">
                <a:effectLst/>
                <a:ea typeface="Calibri" panose="020F0502020204030204" pitchFamily="34" charset="0"/>
                <a:cs typeface="Times New Roman" panose="02020603050405020304" pitchFamily="18" charset="0"/>
              </a:endParaRPr>
            </a:p>
          </p:txBody>
        </p:sp>
        <p:sp>
          <p:nvSpPr>
            <p:cNvPr id="12" name="Oval 11"/>
            <p:cNvSpPr/>
            <p:nvPr/>
          </p:nvSpPr>
          <p:spPr>
            <a:xfrm>
              <a:off x="0" y="1706880"/>
              <a:ext cx="1508760" cy="975360"/>
            </a:xfrm>
            <a:prstGeom prst="ellipse">
              <a:avLst/>
            </a:prstGeom>
            <a:solidFill>
              <a:schemeClr val="accent2">
                <a:lumMod val="60000"/>
                <a:lumOff val="40000"/>
              </a:schemeClr>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sz="1100">
                  <a:effectLst/>
                  <a:latin typeface="Calibri" panose="020F0502020204030204" pitchFamily="34" charset="0"/>
                  <a:ea typeface="Calibri" panose="020F0502020204030204" pitchFamily="34" charset="0"/>
                  <a:cs typeface="Times New Roman" panose="02020603050405020304" pitchFamily="18" charset="0"/>
                </a:rPr>
                <a:t>Human Computer Interface (HCI)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Oval 12"/>
            <p:cNvSpPr/>
            <p:nvPr/>
          </p:nvSpPr>
          <p:spPr>
            <a:xfrm>
              <a:off x="1226820" y="3337560"/>
              <a:ext cx="1630680" cy="952500"/>
            </a:xfrm>
            <a:prstGeom prst="ellipse">
              <a:avLst/>
            </a:prstGeom>
            <a:solidFill>
              <a:schemeClr val="accent2">
                <a:lumMod val="60000"/>
                <a:lumOff val="40000"/>
              </a:schemeClr>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sz="1100">
                  <a:effectLst/>
                  <a:latin typeface="Calibri" panose="020F0502020204030204" pitchFamily="34" charset="0"/>
                  <a:ea typeface="Calibri" panose="020F0502020204030204" pitchFamily="34" charset="0"/>
                  <a:cs typeface="Times New Roman" panose="02020603050405020304" pitchFamily="18" charset="0"/>
                </a:rPr>
                <a:t>Sensors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GB" sz="1100">
                  <a:effectLst/>
                  <a:latin typeface="Calibri" panose="020F0502020204030204" pitchFamily="34" charset="0"/>
                  <a:ea typeface="Calibri" panose="020F0502020204030204" pitchFamily="34" charset="0"/>
                  <a:cs typeface="Times New Roman" panose="02020603050405020304" pitchFamily="18" charset="0"/>
                </a:rPr>
                <a:t>Actuators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Oval 13"/>
            <p:cNvSpPr/>
            <p:nvPr/>
          </p:nvSpPr>
          <p:spPr>
            <a:xfrm>
              <a:off x="3436620" y="3162300"/>
              <a:ext cx="1668780" cy="1013460"/>
            </a:xfrm>
            <a:prstGeom prst="ellipse">
              <a:avLst/>
            </a:prstGeom>
            <a:solidFill>
              <a:schemeClr val="accent2">
                <a:lumMod val="60000"/>
                <a:lumOff val="40000"/>
              </a:schemeClr>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sz="1100">
                  <a:effectLst/>
                  <a:latin typeface="Calibri" panose="020F0502020204030204" pitchFamily="34" charset="0"/>
                  <a:ea typeface="Calibri" panose="020F0502020204030204" pitchFamily="34" charset="0"/>
                  <a:cs typeface="Times New Roman" panose="02020603050405020304" pitchFamily="18" charset="0"/>
                </a:rPr>
                <a:t>Networks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Oval 14"/>
            <p:cNvSpPr/>
            <p:nvPr/>
          </p:nvSpPr>
          <p:spPr>
            <a:xfrm>
              <a:off x="4358640" y="1531620"/>
              <a:ext cx="1478280" cy="982980"/>
            </a:xfrm>
            <a:prstGeom prst="ellipse">
              <a:avLst/>
            </a:prstGeom>
            <a:solidFill>
              <a:schemeClr val="accent2">
                <a:lumMod val="60000"/>
                <a:lumOff val="40000"/>
              </a:schemeClr>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sz="1100">
                  <a:effectLst/>
                  <a:latin typeface="Calibri" panose="020F0502020204030204" pitchFamily="34" charset="0"/>
                  <a:ea typeface="Calibri" panose="020F0502020204030204" pitchFamily="34" charset="0"/>
                  <a:cs typeface="Times New Roman" panose="02020603050405020304" pitchFamily="18" charset="0"/>
                </a:rPr>
                <a:t>Pervasive / Ubiquitous Computing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Oval 15"/>
            <p:cNvSpPr/>
            <p:nvPr/>
          </p:nvSpPr>
          <p:spPr>
            <a:xfrm>
              <a:off x="2019300" y="0"/>
              <a:ext cx="1714500" cy="937260"/>
            </a:xfrm>
            <a:prstGeom prst="ellipse">
              <a:avLst/>
            </a:prstGeom>
            <a:solidFill>
              <a:schemeClr val="accent2">
                <a:lumMod val="60000"/>
                <a:lumOff val="40000"/>
              </a:schemeClr>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sz="1100" dirty="0">
                  <a:effectLst/>
                  <a:latin typeface="Calibri" panose="020F0502020204030204" pitchFamily="34" charset="0"/>
                  <a:ea typeface="Calibri" panose="020F0502020204030204" pitchFamily="34" charset="0"/>
                  <a:cs typeface="Times New Roman" panose="02020603050405020304" pitchFamily="18" charset="0"/>
                </a:rPr>
                <a:t>Artificial Intelligence &amp; Machine Learning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Left-Right Arrow 16"/>
            <p:cNvSpPr/>
            <p:nvPr/>
          </p:nvSpPr>
          <p:spPr>
            <a:xfrm rot="5400000">
              <a:off x="2579370" y="1177290"/>
              <a:ext cx="594360" cy="14478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 name="Left-Right Arrow 17"/>
            <p:cNvSpPr/>
            <p:nvPr/>
          </p:nvSpPr>
          <p:spPr>
            <a:xfrm>
              <a:off x="1539240" y="2072640"/>
              <a:ext cx="464820" cy="12192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 name="Left-Right Arrow 18"/>
            <p:cNvSpPr/>
            <p:nvPr/>
          </p:nvSpPr>
          <p:spPr>
            <a:xfrm>
              <a:off x="3863340" y="2019300"/>
              <a:ext cx="464820" cy="121920"/>
            </a:xfrm>
            <a:prstGeom prst="leftRightArrow">
              <a:avLst/>
            </a:prstGeom>
            <a:solidFill>
              <a:srgbClr val="5B9BD5"/>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 name="Left-Right Arrow 19"/>
            <p:cNvSpPr/>
            <p:nvPr/>
          </p:nvSpPr>
          <p:spPr>
            <a:xfrm rot="7332809">
              <a:off x="2167890" y="3013710"/>
              <a:ext cx="594360" cy="144780"/>
            </a:xfrm>
            <a:prstGeom prst="leftRightArrow">
              <a:avLst/>
            </a:prstGeom>
            <a:solidFill>
              <a:srgbClr val="5B9BD5"/>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Left-Right Arrow 20"/>
            <p:cNvSpPr/>
            <p:nvPr/>
          </p:nvSpPr>
          <p:spPr>
            <a:xfrm rot="2870435">
              <a:off x="3459480" y="2880360"/>
              <a:ext cx="594360" cy="144780"/>
            </a:xfrm>
            <a:prstGeom prst="leftRightArrow">
              <a:avLst/>
            </a:prstGeom>
            <a:solidFill>
              <a:srgbClr val="5B9BD5"/>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 name="Rectangle 21"/>
          <p:cNvSpPr/>
          <p:nvPr/>
        </p:nvSpPr>
        <p:spPr>
          <a:xfrm>
            <a:off x="3100993" y="4646542"/>
            <a:ext cx="2665408" cy="2816156"/>
          </a:xfrm>
          <a:prstGeom prst="rect">
            <a:avLst/>
          </a:prstGeom>
        </p:spPr>
        <p:txBody>
          <a:bodyPr wrap="square">
            <a:spAutoFit/>
          </a:bodyPr>
          <a:lstStyle/>
          <a:p>
            <a:pPr lvl="0"/>
            <a:endParaRPr lang="en-GB" sz="1300" dirty="0">
              <a:latin typeface="Calibri" panose="020F0502020204030204" pitchFamily="34" charset="0"/>
              <a:cs typeface="Calibri" panose="020F0502020204030204" pitchFamily="34" charset="0"/>
            </a:endParaRPr>
          </a:p>
          <a:p>
            <a:pPr lvl="0"/>
            <a:endParaRPr lang="en-GB" sz="1300" dirty="0">
              <a:latin typeface="Calibri" panose="020F0502020204030204" pitchFamily="34" charset="0"/>
              <a:cs typeface="Calibri" panose="020F0502020204030204" pitchFamily="34" charset="0"/>
            </a:endParaRPr>
          </a:p>
          <a:p>
            <a:pPr lvl="0"/>
            <a:endParaRPr lang="en-GB" sz="1300" dirty="0">
              <a:latin typeface="Calibri" panose="020F0502020204030204" pitchFamily="34" charset="0"/>
              <a:cs typeface="Calibri" panose="020F0502020204030204" pitchFamily="34" charset="0"/>
            </a:endParaRPr>
          </a:p>
          <a:p>
            <a:pPr lvl="0"/>
            <a:endParaRPr lang="en-GB" sz="1300" dirty="0">
              <a:latin typeface="Calibri" panose="020F0502020204030204" pitchFamily="34" charset="0"/>
              <a:cs typeface="Calibri" panose="020F0502020204030204" pitchFamily="34" charset="0"/>
            </a:endParaRPr>
          </a:p>
          <a:p>
            <a:pPr lvl="0"/>
            <a:endParaRPr lang="en-GB" sz="1300" dirty="0">
              <a:latin typeface="Calibri" panose="020F0502020204030204" pitchFamily="34" charset="0"/>
              <a:cs typeface="Calibri" panose="020F0502020204030204" pitchFamily="34" charset="0"/>
            </a:endParaRPr>
          </a:p>
          <a:p>
            <a:pPr lvl="0"/>
            <a:r>
              <a:rPr lang="en-GB" sz="4000" dirty="0">
                <a:latin typeface="Times New Roman" panose="02020603050405020304" pitchFamily="18" charset="0"/>
                <a:cs typeface="Times New Roman" panose="02020603050405020304" pitchFamily="18" charset="0"/>
              </a:rPr>
              <a:t>                                                                                                     </a:t>
            </a:r>
            <a:r>
              <a:rPr lang="en-GB" sz="1200" dirty="0"/>
              <a:t>Source: Augusto, 2011</a:t>
            </a:r>
          </a:p>
          <a:p>
            <a:pPr lvl="0"/>
            <a:endParaRPr lang="en-GB" sz="1300" dirty="0">
              <a:latin typeface="Calibri" panose="020F0502020204030204" pitchFamily="34" charset="0"/>
              <a:cs typeface="Calibri" panose="020F0502020204030204" pitchFamily="34" charset="0"/>
            </a:endParaRPr>
          </a:p>
          <a:p>
            <a:endParaRPr lang="en-GB" sz="1400" dirty="0"/>
          </a:p>
          <a:p>
            <a:pPr marL="342900" indent="-342900">
              <a:buFont typeface="+mj-lt"/>
              <a:buAutoNum type="arabicParenR"/>
            </a:pPr>
            <a:endParaRPr lang="en-GB" sz="1400" dirty="0"/>
          </a:p>
          <a:p>
            <a:pPr lvl="0" algn="just"/>
            <a:endParaRPr lang="en-GB" sz="1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6045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152400" y="390227"/>
            <a:ext cx="8818692" cy="4016484"/>
          </a:xfrm>
          <a:prstGeom prst="rect">
            <a:avLst/>
          </a:prstGeom>
        </p:spPr>
        <p:txBody>
          <a:bodyPr vert="horz" wrap="square" lIns="0" tIns="0" rIns="0" bIns="0" rtlCol="0">
            <a:spAutoFit/>
          </a:bodyPr>
          <a:lstStyle/>
          <a:p>
            <a:pPr algn="just"/>
            <a:endParaRPr lang="en-GB" dirty="0">
              <a:latin typeface="Times New Roman" panose="02020603050405020304" pitchFamily="18" charset="0"/>
              <a:cs typeface="Times New Roman" panose="02020603050405020304" pitchFamily="18" charset="0"/>
            </a:endParaRPr>
          </a:p>
          <a:p>
            <a:pPr>
              <a:lnSpc>
                <a:spcPct val="150000"/>
              </a:lnSpc>
            </a:pPr>
            <a:endParaRPr lang="en-GB" dirty="0"/>
          </a:p>
          <a:p>
            <a:pPr>
              <a:lnSpc>
                <a:spcPct val="150000"/>
              </a:lnSpc>
            </a:pPr>
            <a:r>
              <a:rPr lang="en-US" b="1" dirty="0">
                <a:solidFill>
                  <a:srgbClr val="FF0000"/>
                </a:solidFill>
              </a:rPr>
              <a:t>a). Human-Computer Interaction (HCI): </a:t>
            </a:r>
          </a:p>
          <a:p>
            <a:pPr marL="285750" indent="-285750">
              <a:lnSpc>
                <a:spcPct val="150000"/>
              </a:lnSpc>
              <a:buFontTx/>
              <a:buChar char="-"/>
            </a:pPr>
            <a:r>
              <a:rPr lang="en-US" dirty="0"/>
              <a:t>HCI focuses on designing interfaces and interaction paradigms that facilitate seamless communication between humans and computers. </a:t>
            </a:r>
          </a:p>
          <a:p>
            <a:pPr marL="285750" indent="-285750">
              <a:lnSpc>
                <a:spcPct val="150000"/>
              </a:lnSpc>
              <a:buFontTx/>
              <a:buChar char="-"/>
            </a:pPr>
            <a:r>
              <a:rPr lang="en-US" dirty="0"/>
              <a:t>In </a:t>
            </a:r>
            <a:r>
              <a:rPr lang="en-US" dirty="0" err="1"/>
              <a:t>AmI</a:t>
            </a:r>
            <a:r>
              <a:rPr lang="en-US" dirty="0"/>
              <a:t>, HCI principles are applied to create intuitive, user-friendly interfaces that enable users to interact with intelligent environments naturally. </a:t>
            </a:r>
          </a:p>
          <a:p>
            <a:pPr marL="285750" indent="-285750">
              <a:lnSpc>
                <a:spcPct val="150000"/>
              </a:lnSpc>
              <a:buFontTx/>
              <a:buChar char="-"/>
            </a:pPr>
            <a:r>
              <a:rPr lang="en-US" dirty="0"/>
              <a:t>Design considerations include usability, accessibility, transparency, and privacy to ensure a positive user experience.</a:t>
            </a:r>
          </a:p>
          <a:p>
            <a:pPr>
              <a:lnSpc>
                <a:spcPct val="150000"/>
              </a:lnSpc>
            </a:pPr>
            <a:endParaRPr lang="en-US" dirty="0"/>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1440" y="-183383"/>
            <a:ext cx="8971092" cy="707886"/>
          </a:xfrm>
          <a:prstGeom prst="rect">
            <a:avLst/>
          </a:prstGeom>
        </p:spPr>
        <p:txBody>
          <a:bodyPr wrap="square">
            <a:spAutoFit/>
          </a:bodyPr>
          <a:lstStyle/>
          <a:p>
            <a:pPr>
              <a:lnSpc>
                <a:spcPct val="200000"/>
              </a:lnSpc>
            </a:pPr>
            <a:r>
              <a:rPr lang="en-GB" sz="2000" b="1" dirty="0">
                <a:solidFill>
                  <a:srgbClr val="0070C0"/>
                </a:solidFill>
              </a:rPr>
              <a:t>5.0</a:t>
            </a:r>
            <a:r>
              <a:rPr lang="en-GB" sz="2000" b="1" dirty="0">
                <a:cs typeface="Calibri" panose="020F0502020204030204" pitchFamily="34" charset="0"/>
              </a:rPr>
              <a:t> </a:t>
            </a:r>
            <a:r>
              <a:rPr lang="en-GB" sz="2000" b="1" dirty="0">
                <a:solidFill>
                  <a:srgbClr val="0070C0"/>
                </a:solidFill>
              </a:rPr>
              <a:t>Ambient Intelligence enabling Technologies</a:t>
            </a: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614201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152400" y="390227"/>
            <a:ext cx="8818692" cy="4847481"/>
          </a:xfrm>
          <a:prstGeom prst="rect">
            <a:avLst/>
          </a:prstGeom>
        </p:spPr>
        <p:txBody>
          <a:bodyPr vert="horz" wrap="square" lIns="0" tIns="0" rIns="0" bIns="0" rtlCol="0">
            <a:spAutoFit/>
          </a:bodyPr>
          <a:lstStyle/>
          <a:p>
            <a:pPr algn="just"/>
            <a:endParaRPr lang="en-GB" dirty="0">
              <a:latin typeface="Times New Roman" panose="02020603050405020304" pitchFamily="18" charset="0"/>
              <a:cs typeface="Times New Roman" panose="02020603050405020304" pitchFamily="18" charset="0"/>
            </a:endParaRPr>
          </a:p>
          <a:p>
            <a:pPr>
              <a:lnSpc>
                <a:spcPct val="150000"/>
              </a:lnSpc>
            </a:pPr>
            <a:endParaRPr lang="en-GB" dirty="0"/>
          </a:p>
          <a:p>
            <a:pPr>
              <a:lnSpc>
                <a:spcPct val="150000"/>
              </a:lnSpc>
            </a:pPr>
            <a:r>
              <a:rPr lang="en-US" b="1" dirty="0">
                <a:solidFill>
                  <a:srgbClr val="FF0000"/>
                </a:solidFill>
              </a:rPr>
              <a:t>b). Computer Science and Engineering: </a:t>
            </a:r>
          </a:p>
          <a:p>
            <a:pPr marL="285750" indent="-285750">
              <a:lnSpc>
                <a:spcPct val="150000"/>
              </a:lnSpc>
              <a:buFontTx/>
              <a:buChar char="-"/>
            </a:pPr>
            <a:r>
              <a:rPr lang="en-US" dirty="0"/>
              <a:t>Computer science and engineering provide the foundational principles and technologies for </a:t>
            </a:r>
            <a:r>
              <a:rPr lang="en-US" dirty="0" err="1"/>
              <a:t>AmI</a:t>
            </a:r>
            <a:r>
              <a:rPr lang="en-US" dirty="0"/>
              <a:t> systems. </a:t>
            </a:r>
          </a:p>
          <a:p>
            <a:pPr marL="285750" indent="-285750">
              <a:lnSpc>
                <a:spcPct val="150000"/>
              </a:lnSpc>
              <a:buFontTx/>
              <a:buChar char="-"/>
            </a:pPr>
            <a:r>
              <a:rPr lang="en-US" dirty="0"/>
              <a:t>This includes software development for sensor networks, data processing algorithms, artificial intelligence (AI), machine learning, and distributed computing. </a:t>
            </a:r>
          </a:p>
          <a:p>
            <a:pPr marL="285750" indent="-285750">
              <a:lnSpc>
                <a:spcPct val="150000"/>
              </a:lnSpc>
              <a:buFontTx/>
              <a:buChar char="-"/>
            </a:pPr>
            <a:r>
              <a:rPr lang="en-US" dirty="0"/>
              <a:t>Computer scientists and engineers design and implement the infrastructure, protocols, and software frameworks that enable </a:t>
            </a:r>
            <a:r>
              <a:rPr lang="en-US" dirty="0" err="1"/>
              <a:t>AmI</a:t>
            </a:r>
            <a:r>
              <a:rPr lang="en-US" dirty="0"/>
              <a:t> environments to collect, process, and act upon data in real-time.</a:t>
            </a:r>
          </a:p>
          <a:p>
            <a:pPr>
              <a:lnSpc>
                <a:spcPct val="150000"/>
              </a:lnSpc>
            </a:pPr>
            <a:endParaRPr lang="en-US" dirty="0"/>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1440" y="-183383"/>
            <a:ext cx="8971092" cy="707886"/>
          </a:xfrm>
          <a:prstGeom prst="rect">
            <a:avLst/>
          </a:prstGeom>
        </p:spPr>
        <p:txBody>
          <a:bodyPr wrap="square">
            <a:spAutoFit/>
          </a:bodyPr>
          <a:lstStyle/>
          <a:p>
            <a:pPr>
              <a:lnSpc>
                <a:spcPct val="200000"/>
              </a:lnSpc>
            </a:pPr>
            <a:r>
              <a:rPr lang="en-GB" sz="2000" b="1" dirty="0">
                <a:solidFill>
                  <a:srgbClr val="0070C0"/>
                </a:solidFill>
              </a:rPr>
              <a:t>5.0</a:t>
            </a:r>
            <a:r>
              <a:rPr lang="en-GB" sz="2000" b="1" dirty="0">
                <a:cs typeface="Calibri" panose="020F0502020204030204" pitchFamily="34" charset="0"/>
              </a:rPr>
              <a:t> </a:t>
            </a:r>
            <a:r>
              <a:rPr lang="en-GB" sz="2000" b="1" dirty="0">
                <a:solidFill>
                  <a:srgbClr val="0070C0"/>
                </a:solidFill>
              </a:rPr>
              <a:t>Ambient Intelligence enabling Technologies</a:t>
            </a: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21419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152400" y="390227"/>
            <a:ext cx="8818692" cy="4431983"/>
          </a:xfrm>
          <a:prstGeom prst="rect">
            <a:avLst/>
          </a:prstGeom>
        </p:spPr>
        <p:txBody>
          <a:bodyPr vert="horz" wrap="square" lIns="0" tIns="0" rIns="0" bIns="0" rtlCol="0">
            <a:spAutoFit/>
          </a:bodyPr>
          <a:lstStyle/>
          <a:p>
            <a:pPr algn="just"/>
            <a:endParaRPr lang="en-GB" dirty="0">
              <a:latin typeface="Times New Roman" panose="02020603050405020304" pitchFamily="18" charset="0"/>
              <a:cs typeface="Times New Roman" panose="02020603050405020304" pitchFamily="18" charset="0"/>
            </a:endParaRPr>
          </a:p>
          <a:p>
            <a:pPr>
              <a:lnSpc>
                <a:spcPct val="150000"/>
              </a:lnSpc>
            </a:pPr>
            <a:endParaRPr lang="en-GB" dirty="0"/>
          </a:p>
          <a:p>
            <a:pPr>
              <a:lnSpc>
                <a:spcPct val="150000"/>
              </a:lnSpc>
            </a:pPr>
            <a:r>
              <a:rPr lang="en-GB" b="1" dirty="0">
                <a:solidFill>
                  <a:srgbClr val="FF0000"/>
                </a:solidFill>
              </a:rPr>
              <a:t>c). </a:t>
            </a:r>
            <a:r>
              <a:rPr lang="en-US" b="1" dirty="0">
                <a:solidFill>
                  <a:srgbClr val="FF0000"/>
                </a:solidFill>
              </a:rPr>
              <a:t>Networking and Communication: </a:t>
            </a:r>
          </a:p>
          <a:p>
            <a:pPr marL="285750" indent="-285750">
              <a:lnSpc>
                <a:spcPct val="150000"/>
              </a:lnSpc>
              <a:buFontTx/>
              <a:buChar char="-"/>
            </a:pPr>
            <a:r>
              <a:rPr lang="en-US" dirty="0"/>
              <a:t>Networking and communication technologies are essential for connecting devices, sensors, actuators, and systems in </a:t>
            </a:r>
            <a:r>
              <a:rPr lang="en-US" dirty="0" err="1"/>
              <a:t>AmI</a:t>
            </a:r>
            <a:r>
              <a:rPr lang="en-US" dirty="0"/>
              <a:t> environments. </a:t>
            </a:r>
          </a:p>
          <a:p>
            <a:pPr marL="285750" indent="-285750">
              <a:lnSpc>
                <a:spcPct val="150000"/>
              </a:lnSpc>
              <a:buFontTx/>
              <a:buChar char="-"/>
            </a:pPr>
            <a:r>
              <a:rPr lang="en-US" dirty="0"/>
              <a:t>This includes wired and wireless networking protocols, Internet of Things (</a:t>
            </a:r>
            <a:r>
              <a:rPr lang="en-US" dirty="0" err="1"/>
              <a:t>IoT</a:t>
            </a:r>
            <a:r>
              <a:rPr lang="en-US" dirty="0"/>
              <a:t>) standards, mesh networks, and communication middleware. </a:t>
            </a:r>
          </a:p>
          <a:p>
            <a:pPr marL="285750" indent="-285750">
              <a:lnSpc>
                <a:spcPct val="150000"/>
              </a:lnSpc>
              <a:buFontTx/>
              <a:buChar char="-"/>
            </a:pPr>
            <a:r>
              <a:rPr lang="en-US" dirty="0"/>
              <a:t>Engineers and researchers in this field work on optimizing network performance, ensuring reliability, scalability, and security, and enabling seamless integration of heterogeneous devices.</a:t>
            </a:r>
          </a:p>
          <a:p>
            <a:pPr>
              <a:lnSpc>
                <a:spcPct val="150000"/>
              </a:lnSpc>
            </a:pPr>
            <a:endParaRPr lang="en-US" dirty="0"/>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1440" y="-183383"/>
            <a:ext cx="8971092" cy="1323439"/>
          </a:xfrm>
          <a:prstGeom prst="rect">
            <a:avLst/>
          </a:prstGeom>
        </p:spPr>
        <p:txBody>
          <a:bodyPr wrap="square">
            <a:spAutoFit/>
          </a:bodyPr>
          <a:lstStyle/>
          <a:p>
            <a:pPr>
              <a:lnSpc>
                <a:spcPct val="200000"/>
              </a:lnSpc>
            </a:pPr>
            <a:r>
              <a:rPr lang="en-GB" sz="2000" b="1" dirty="0">
                <a:solidFill>
                  <a:srgbClr val="0070C0"/>
                </a:solidFill>
              </a:rPr>
              <a:t>5.0</a:t>
            </a:r>
            <a:r>
              <a:rPr lang="en-GB" sz="2000" b="1" dirty="0">
                <a:cs typeface="Calibri" panose="020F0502020204030204" pitchFamily="34" charset="0"/>
              </a:rPr>
              <a:t> </a:t>
            </a:r>
            <a:r>
              <a:rPr lang="en-GB" sz="2000" b="1" dirty="0">
                <a:solidFill>
                  <a:srgbClr val="0070C0"/>
                </a:solidFill>
              </a:rPr>
              <a:t>Ambient Intelligence enabling Technologies</a:t>
            </a:r>
          </a:p>
          <a:p>
            <a:pPr>
              <a:lnSpc>
                <a:spcPct val="200000"/>
              </a:lnSpc>
            </a:pPr>
            <a:r>
              <a:rPr lang="en-GB" sz="2000" b="1" dirty="0">
                <a:latin typeface="+mj-lt"/>
                <a:cs typeface="Times New Roman" panose="02020603050405020304" pitchFamily="18" charset="0"/>
              </a:rPr>
              <a:t> </a:t>
            </a: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004794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152400" y="390227"/>
            <a:ext cx="8818692" cy="4431983"/>
          </a:xfrm>
          <a:prstGeom prst="rect">
            <a:avLst/>
          </a:prstGeom>
        </p:spPr>
        <p:txBody>
          <a:bodyPr vert="horz" wrap="square" lIns="0" tIns="0" rIns="0" bIns="0" rtlCol="0">
            <a:spAutoFit/>
          </a:bodyPr>
          <a:lstStyle/>
          <a:p>
            <a:pPr algn="just"/>
            <a:endParaRPr lang="en-GB" dirty="0">
              <a:latin typeface="Times New Roman" panose="02020603050405020304" pitchFamily="18" charset="0"/>
              <a:cs typeface="Times New Roman" panose="02020603050405020304" pitchFamily="18" charset="0"/>
            </a:endParaRPr>
          </a:p>
          <a:p>
            <a:pPr>
              <a:lnSpc>
                <a:spcPct val="150000"/>
              </a:lnSpc>
            </a:pPr>
            <a:endParaRPr lang="en-GB" dirty="0"/>
          </a:p>
          <a:p>
            <a:pPr>
              <a:lnSpc>
                <a:spcPct val="150000"/>
              </a:lnSpc>
            </a:pPr>
            <a:r>
              <a:rPr lang="en-GB" b="1" dirty="0">
                <a:solidFill>
                  <a:srgbClr val="FF0000"/>
                </a:solidFill>
              </a:rPr>
              <a:t>d). </a:t>
            </a:r>
            <a:r>
              <a:rPr lang="en-US" b="1" dirty="0">
                <a:solidFill>
                  <a:srgbClr val="FF0000"/>
                </a:solidFill>
              </a:rPr>
              <a:t>Sensor Technology: </a:t>
            </a:r>
          </a:p>
          <a:p>
            <a:pPr marL="285750" indent="-285750">
              <a:lnSpc>
                <a:spcPct val="150000"/>
              </a:lnSpc>
              <a:buFontTx/>
              <a:buChar char="-"/>
            </a:pPr>
            <a:r>
              <a:rPr lang="en-US" dirty="0"/>
              <a:t>Sensor technology is central to </a:t>
            </a:r>
            <a:r>
              <a:rPr lang="en-US" dirty="0" err="1"/>
              <a:t>AmI</a:t>
            </a:r>
            <a:r>
              <a:rPr lang="en-US" dirty="0"/>
              <a:t>, as sensors are used to collect data about the environment, users' activities, and contextual information. </a:t>
            </a:r>
          </a:p>
          <a:p>
            <a:pPr marL="285750" indent="-285750">
              <a:lnSpc>
                <a:spcPct val="150000"/>
              </a:lnSpc>
              <a:buFontTx/>
              <a:buChar char="-"/>
            </a:pPr>
            <a:r>
              <a:rPr lang="en-US" dirty="0"/>
              <a:t>Sensors can include a wide range of devices such as motion detectors, temperature sensors, cameras, microphones, and biometric sensors. </a:t>
            </a:r>
          </a:p>
          <a:p>
            <a:pPr marL="285750" indent="-285750">
              <a:lnSpc>
                <a:spcPct val="150000"/>
              </a:lnSpc>
              <a:buFontTx/>
              <a:buChar char="-"/>
            </a:pPr>
            <a:r>
              <a:rPr lang="en-US" dirty="0"/>
              <a:t>Advances in sensor miniaturization, power efficiency, and wireless communication have enabled the deployment of sensors in various environments, contributing to the development of context-aware </a:t>
            </a:r>
            <a:r>
              <a:rPr lang="en-US" dirty="0" err="1"/>
              <a:t>AmI</a:t>
            </a:r>
            <a:r>
              <a:rPr lang="en-US" dirty="0"/>
              <a:t> systems.</a:t>
            </a:r>
          </a:p>
          <a:p>
            <a:pPr>
              <a:lnSpc>
                <a:spcPct val="150000"/>
              </a:lnSpc>
            </a:pPr>
            <a:endParaRPr lang="en-US" dirty="0"/>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1440" y="-183383"/>
            <a:ext cx="8971092" cy="1323439"/>
          </a:xfrm>
          <a:prstGeom prst="rect">
            <a:avLst/>
          </a:prstGeom>
        </p:spPr>
        <p:txBody>
          <a:bodyPr wrap="square">
            <a:spAutoFit/>
          </a:bodyPr>
          <a:lstStyle/>
          <a:p>
            <a:pPr>
              <a:lnSpc>
                <a:spcPct val="200000"/>
              </a:lnSpc>
            </a:pPr>
            <a:r>
              <a:rPr lang="en-GB" sz="2000" b="1" dirty="0">
                <a:solidFill>
                  <a:srgbClr val="0070C0"/>
                </a:solidFill>
              </a:rPr>
              <a:t>5.0</a:t>
            </a:r>
            <a:r>
              <a:rPr lang="en-GB" sz="2000" b="1" dirty="0">
                <a:cs typeface="Calibri" panose="020F0502020204030204" pitchFamily="34" charset="0"/>
              </a:rPr>
              <a:t> </a:t>
            </a:r>
            <a:r>
              <a:rPr lang="en-GB" sz="2000" b="1" dirty="0">
                <a:solidFill>
                  <a:srgbClr val="0070C0"/>
                </a:solidFill>
              </a:rPr>
              <a:t>Ambient Intelligence enabling Technologies</a:t>
            </a:r>
          </a:p>
          <a:p>
            <a:pPr>
              <a:lnSpc>
                <a:spcPct val="200000"/>
              </a:lnSpc>
            </a:pPr>
            <a:r>
              <a:rPr lang="en-GB" sz="2000" b="1" dirty="0">
                <a:latin typeface="+mj-lt"/>
                <a:cs typeface="Times New Roman" panose="02020603050405020304" pitchFamily="18" charset="0"/>
              </a:rPr>
              <a:t> </a:t>
            </a: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04526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152400" y="390227"/>
            <a:ext cx="8818692" cy="4847481"/>
          </a:xfrm>
          <a:prstGeom prst="rect">
            <a:avLst/>
          </a:prstGeom>
        </p:spPr>
        <p:txBody>
          <a:bodyPr vert="horz" wrap="square" lIns="0" tIns="0" rIns="0" bIns="0" rtlCol="0">
            <a:spAutoFit/>
          </a:bodyPr>
          <a:lstStyle/>
          <a:p>
            <a:pPr algn="just"/>
            <a:endParaRPr lang="en-GB" dirty="0">
              <a:latin typeface="Times New Roman" panose="02020603050405020304" pitchFamily="18" charset="0"/>
              <a:cs typeface="Times New Roman" panose="02020603050405020304" pitchFamily="18" charset="0"/>
            </a:endParaRPr>
          </a:p>
          <a:p>
            <a:pPr>
              <a:lnSpc>
                <a:spcPct val="150000"/>
              </a:lnSpc>
            </a:pPr>
            <a:endParaRPr lang="en-GB" dirty="0"/>
          </a:p>
          <a:p>
            <a:pPr>
              <a:lnSpc>
                <a:spcPct val="150000"/>
              </a:lnSpc>
            </a:pPr>
            <a:r>
              <a:rPr lang="en-GB" b="1" dirty="0">
                <a:solidFill>
                  <a:srgbClr val="FF0000"/>
                </a:solidFill>
              </a:rPr>
              <a:t>e). </a:t>
            </a:r>
            <a:r>
              <a:rPr lang="en-US" b="1" dirty="0">
                <a:solidFill>
                  <a:srgbClr val="FF0000"/>
                </a:solidFill>
              </a:rPr>
              <a:t>Artificial Intelligence and Machine Learning:</a:t>
            </a:r>
            <a:r>
              <a:rPr lang="en-US" dirty="0"/>
              <a:t> </a:t>
            </a:r>
          </a:p>
          <a:p>
            <a:pPr marL="285750" indent="-285750">
              <a:lnSpc>
                <a:spcPct val="150000"/>
              </a:lnSpc>
              <a:buFontTx/>
              <a:buChar char="-"/>
            </a:pPr>
            <a:r>
              <a:rPr lang="en-US" dirty="0"/>
              <a:t>AI and machine learning play a crucial role in </a:t>
            </a:r>
            <a:r>
              <a:rPr lang="en-US" dirty="0" err="1"/>
              <a:t>AmI</a:t>
            </a:r>
            <a:r>
              <a:rPr lang="en-US" dirty="0"/>
              <a:t> by enabling systems to analyze data, recognize patterns, and make intelligent decisions. </a:t>
            </a:r>
          </a:p>
          <a:p>
            <a:pPr marL="285750" indent="-285750">
              <a:lnSpc>
                <a:spcPct val="150000"/>
              </a:lnSpc>
              <a:buFontTx/>
              <a:buChar char="-"/>
            </a:pPr>
            <a:r>
              <a:rPr lang="en-US" dirty="0"/>
              <a:t>AI techniques such as natural language processing (NLP), computer vision, predictive analytics, and reinforcement learning are used to understand user behavior, infer preferences, and personalize interactions in </a:t>
            </a:r>
            <a:r>
              <a:rPr lang="en-US" dirty="0" err="1"/>
              <a:t>AmI</a:t>
            </a:r>
            <a:r>
              <a:rPr lang="en-US" dirty="0"/>
              <a:t> environments.</a:t>
            </a:r>
          </a:p>
          <a:p>
            <a:pPr marL="285750" indent="-285750">
              <a:lnSpc>
                <a:spcPct val="150000"/>
              </a:lnSpc>
              <a:buFontTx/>
              <a:buChar char="-"/>
            </a:pPr>
            <a:r>
              <a:rPr lang="en-US" dirty="0"/>
              <a:t>Machine learning algorithms continuously learn from data to improve system performance and adapt to changing contexts.</a:t>
            </a:r>
          </a:p>
          <a:p>
            <a:pPr marL="285750" indent="-285750">
              <a:lnSpc>
                <a:spcPct val="150000"/>
              </a:lnSpc>
              <a:buFontTx/>
              <a:buChar char="-"/>
            </a:pPr>
            <a:endParaRPr lang="en-US" dirty="0"/>
          </a:p>
          <a:p>
            <a:pPr>
              <a:lnSpc>
                <a:spcPct val="150000"/>
              </a:lnSpc>
            </a:pPr>
            <a:endParaRPr lang="en-US" dirty="0"/>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1440" y="-183383"/>
            <a:ext cx="8971092" cy="1323439"/>
          </a:xfrm>
          <a:prstGeom prst="rect">
            <a:avLst/>
          </a:prstGeom>
        </p:spPr>
        <p:txBody>
          <a:bodyPr wrap="square">
            <a:spAutoFit/>
          </a:bodyPr>
          <a:lstStyle/>
          <a:p>
            <a:pPr>
              <a:lnSpc>
                <a:spcPct val="200000"/>
              </a:lnSpc>
            </a:pPr>
            <a:r>
              <a:rPr lang="en-GB" sz="2000" b="1" dirty="0">
                <a:solidFill>
                  <a:srgbClr val="0070C0"/>
                </a:solidFill>
              </a:rPr>
              <a:t>5.0</a:t>
            </a:r>
            <a:r>
              <a:rPr lang="en-GB" sz="2000" b="1" dirty="0">
                <a:cs typeface="Calibri" panose="020F0502020204030204" pitchFamily="34" charset="0"/>
              </a:rPr>
              <a:t> </a:t>
            </a:r>
            <a:r>
              <a:rPr lang="en-GB" sz="2000" b="1" dirty="0">
                <a:solidFill>
                  <a:srgbClr val="0070C0"/>
                </a:solidFill>
              </a:rPr>
              <a:t>Ambient Intelligence enabling Technologies</a:t>
            </a:r>
          </a:p>
          <a:p>
            <a:pPr>
              <a:lnSpc>
                <a:spcPct val="200000"/>
              </a:lnSpc>
            </a:pPr>
            <a:r>
              <a:rPr lang="en-GB" sz="2000" b="1" dirty="0">
                <a:latin typeface="+mj-lt"/>
                <a:cs typeface="Times New Roman" panose="02020603050405020304" pitchFamily="18" charset="0"/>
              </a:rPr>
              <a:t> </a:t>
            </a: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117530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152400" y="390227"/>
            <a:ext cx="8818692" cy="4016484"/>
          </a:xfrm>
          <a:prstGeom prst="rect">
            <a:avLst/>
          </a:prstGeom>
        </p:spPr>
        <p:txBody>
          <a:bodyPr vert="horz" wrap="square" lIns="0" tIns="0" rIns="0" bIns="0" rtlCol="0">
            <a:spAutoFit/>
          </a:bodyPr>
          <a:lstStyle/>
          <a:p>
            <a:pPr algn="just"/>
            <a:endParaRPr lang="en-GB" dirty="0">
              <a:latin typeface="Times New Roman" panose="02020603050405020304" pitchFamily="18" charset="0"/>
              <a:cs typeface="Times New Roman" panose="02020603050405020304" pitchFamily="18" charset="0"/>
            </a:endParaRPr>
          </a:p>
          <a:p>
            <a:pPr>
              <a:lnSpc>
                <a:spcPct val="150000"/>
              </a:lnSpc>
            </a:pPr>
            <a:r>
              <a:rPr lang="en-GB" b="1" dirty="0">
                <a:solidFill>
                  <a:srgbClr val="FF0000"/>
                </a:solidFill>
              </a:rPr>
              <a:t>f). </a:t>
            </a:r>
            <a:r>
              <a:rPr lang="en-US" b="1" dirty="0">
                <a:solidFill>
                  <a:srgbClr val="FF0000"/>
                </a:solidFill>
              </a:rPr>
              <a:t>Psychology and Behavioral Sciences: </a:t>
            </a:r>
          </a:p>
          <a:p>
            <a:pPr marL="285750" indent="-285750">
              <a:lnSpc>
                <a:spcPct val="150000"/>
              </a:lnSpc>
              <a:buFontTx/>
              <a:buChar char="-"/>
            </a:pPr>
            <a:r>
              <a:rPr lang="en-US" dirty="0"/>
              <a:t>Understanding human behavior, cognition, and psychology is important for designing </a:t>
            </a:r>
            <a:r>
              <a:rPr lang="en-US" dirty="0" err="1"/>
              <a:t>AmI</a:t>
            </a:r>
            <a:r>
              <a:rPr lang="en-US" dirty="0"/>
              <a:t> systems that are sensitive to users' needs, preferences, and emotional states. </a:t>
            </a:r>
          </a:p>
          <a:p>
            <a:pPr marL="285750" indent="-285750">
              <a:lnSpc>
                <a:spcPct val="150000"/>
              </a:lnSpc>
              <a:buFontTx/>
              <a:buChar char="-"/>
            </a:pPr>
            <a:r>
              <a:rPr lang="en-US" dirty="0"/>
              <a:t> Psychologists and behavioral scientists contribute insights into human perception, decision-making, attention, and social interaction, which inform the design of personalized and adaptive interfaces, content recommendations, and affective computing techniques in </a:t>
            </a:r>
            <a:r>
              <a:rPr lang="en-US" dirty="0" err="1"/>
              <a:t>AmI</a:t>
            </a:r>
            <a:r>
              <a:rPr lang="en-US" dirty="0"/>
              <a:t>.</a:t>
            </a:r>
          </a:p>
          <a:p>
            <a:pPr>
              <a:lnSpc>
                <a:spcPct val="150000"/>
              </a:lnSpc>
            </a:pPr>
            <a:endParaRPr lang="en-US" dirty="0"/>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1440" y="-183383"/>
            <a:ext cx="8971092" cy="707886"/>
          </a:xfrm>
          <a:prstGeom prst="rect">
            <a:avLst/>
          </a:prstGeom>
        </p:spPr>
        <p:txBody>
          <a:bodyPr wrap="square">
            <a:spAutoFit/>
          </a:bodyPr>
          <a:lstStyle/>
          <a:p>
            <a:pPr>
              <a:lnSpc>
                <a:spcPct val="200000"/>
              </a:lnSpc>
            </a:pPr>
            <a:r>
              <a:rPr lang="en-GB" sz="2000" b="1" dirty="0">
                <a:solidFill>
                  <a:srgbClr val="0070C0"/>
                </a:solidFill>
              </a:rPr>
              <a:t>5.0</a:t>
            </a:r>
            <a:r>
              <a:rPr lang="en-GB" sz="2000" b="1" dirty="0">
                <a:cs typeface="Calibri" panose="020F0502020204030204" pitchFamily="34" charset="0"/>
              </a:rPr>
              <a:t> </a:t>
            </a:r>
            <a:r>
              <a:rPr lang="en-GB" sz="2000" b="1" dirty="0">
                <a:solidFill>
                  <a:srgbClr val="0070C0"/>
                </a:solidFill>
              </a:rPr>
              <a:t>Ambient Intelligence enabling Technologies</a:t>
            </a: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12410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152400" y="390227"/>
            <a:ext cx="8818692" cy="5770811"/>
          </a:xfrm>
          <a:prstGeom prst="rect">
            <a:avLst/>
          </a:prstGeom>
        </p:spPr>
        <p:txBody>
          <a:bodyPr vert="horz" wrap="square" lIns="0" tIns="0" rIns="0" bIns="0" rtlCol="0">
            <a:spAutoFit/>
          </a:bodyPr>
          <a:lstStyle/>
          <a:p>
            <a:pPr algn="just"/>
            <a:endParaRPr lang="en-GB" dirty="0">
              <a:latin typeface="Times New Roman" panose="02020603050405020304" pitchFamily="18" charset="0"/>
              <a:cs typeface="Times New Roman" panose="02020603050405020304" pitchFamily="18" charset="0"/>
            </a:endParaRPr>
          </a:p>
          <a:p>
            <a:pPr marL="342900" lvl="0" indent="-342900">
              <a:lnSpc>
                <a:spcPct val="150000"/>
              </a:lnSpc>
              <a:buFont typeface="Wingdings" panose="05000000000000000000" pitchFamily="2" charset="2"/>
              <a:buChar char="v"/>
            </a:pPr>
            <a:r>
              <a:rPr lang="en-US" sz="2000" b="1" dirty="0"/>
              <a:t>Smart Homes</a:t>
            </a:r>
            <a:r>
              <a:rPr lang="en-US" sz="2000" dirty="0"/>
              <a:t>: </a:t>
            </a:r>
            <a:r>
              <a:rPr lang="en-US" sz="2000" dirty="0" err="1"/>
              <a:t>AmI</a:t>
            </a:r>
            <a:r>
              <a:rPr lang="en-US" sz="2000" dirty="0"/>
              <a:t> technologies are used to create intelligent homes that can control lighting, heating, security systems, and appliances based on the inhabitants' preferences and activities.</a:t>
            </a:r>
          </a:p>
          <a:p>
            <a:pPr marL="342900" lvl="0" indent="-342900">
              <a:lnSpc>
                <a:spcPct val="150000"/>
              </a:lnSpc>
              <a:buFont typeface="Wingdings" panose="05000000000000000000" pitchFamily="2" charset="2"/>
              <a:buChar char="v"/>
            </a:pPr>
            <a:endParaRPr lang="en-US" sz="2000" dirty="0"/>
          </a:p>
          <a:p>
            <a:pPr marL="342900" lvl="0" indent="-342900">
              <a:lnSpc>
                <a:spcPct val="150000"/>
              </a:lnSpc>
              <a:buFont typeface="Wingdings" panose="05000000000000000000" pitchFamily="2" charset="2"/>
              <a:buChar char="v"/>
            </a:pPr>
            <a:r>
              <a:rPr lang="en-US" sz="2000" b="1" dirty="0"/>
              <a:t>Healthcare</a:t>
            </a:r>
            <a:r>
              <a:rPr lang="en-US" sz="2000" dirty="0"/>
              <a:t>: </a:t>
            </a:r>
            <a:r>
              <a:rPr lang="en-US" sz="2000" dirty="0" err="1"/>
              <a:t>AmI</a:t>
            </a:r>
            <a:r>
              <a:rPr lang="en-US" sz="2000" dirty="0"/>
              <a:t> systems in healthcare can monitor patients' vital signs, provide reminders for medication, and alert caregivers in case of emergencies.</a:t>
            </a:r>
          </a:p>
          <a:p>
            <a:pPr marL="342900" lvl="0" indent="-342900">
              <a:lnSpc>
                <a:spcPct val="150000"/>
              </a:lnSpc>
              <a:buFont typeface="Wingdings" panose="05000000000000000000" pitchFamily="2" charset="2"/>
              <a:buChar char="v"/>
            </a:pPr>
            <a:endParaRPr lang="en-US" sz="2000" dirty="0"/>
          </a:p>
          <a:p>
            <a:pPr marL="342900" lvl="0" indent="-342900">
              <a:lnSpc>
                <a:spcPct val="150000"/>
              </a:lnSpc>
              <a:buFont typeface="Wingdings" panose="05000000000000000000" pitchFamily="2" charset="2"/>
              <a:buChar char="v"/>
            </a:pPr>
            <a:r>
              <a:rPr lang="en-US" sz="2000" b="1" dirty="0"/>
              <a:t>Work Environments</a:t>
            </a:r>
            <a:r>
              <a:rPr lang="en-US" sz="2000" dirty="0"/>
              <a:t>: In smart offices, </a:t>
            </a:r>
            <a:r>
              <a:rPr lang="en-US" sz="2000" dirty="0" err="1"/>
              <a:t>AmI</a:t>
            </a:r>
            <a:r>
              <a:rPr lang="en-US" sz="2000" dirty="0"/>
              <a:t> can optimize lighting, temperature, and workspace arrangements to enhance productivity and comfort.</a:t>
            </a:r>
          </a:p>
          <a:p>
            <a:pPr>
              <a:lnSpc>
                <a:spcPct val="150000"/>
              </a:lnSpc>
            </a:pPr>
            <a:endParaRPr lang="en-US" dirty="0"/>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1440" y="-183383"/>
            <a:ext cx="8971092" cy="1228478"/>
          </a:xfrm>
          <a:prstGeom prst="rect">
            <a:avLst/>
          </a:prstGeom>
        </p:spPr>
        <p:txBody>
          <a:bodyPr wrap="square">
            <a:spAutoFit/>
          </a:bodyPr>
          <a:lstStyle/>
          <a:p>
            <a:pPr>
              <a:lnSpc>
                <a:spcPct val="200000"/>
              </a:lnSpc>
            </a:pPr>
            <a:r>
              <a:rPr lang="en-GB" sz="2000" b="1" dirty="0">
                <a:solidFill>
                  <a:srgbClr val="0070C0"/>
                </a:solidFill>
              </a:rPr>
              <a:t>6.0</a:t>
            </a:r>
            <a:r>
              <a:rPr lang="en-GB" sz="2000" b="1" dirty="0">
                <a:cs typeface="Calibri" panose="020F0502020204030204" pitchFamily="34" charset="0"/>
              </a:rPr>
              <a:t> </a:t>
            </a:r>
            <a:r>
              <a:rPr lang="en-US" sz="2000" b="1" dirty="0">
                <a:solidFill>
                  <a:srgbClr val="0070C0"/>
                </a:solidFill>
              </a:rPr>
              <a:t>Applications of Ambient Intelligence</a:t>
            </a:r>
          </a:p>
          <a:p>
            <a:pPr>
              <a:lnSpc>
                <a:spcPct val="200000"/>
              </a:lnSpc>
            </a:pPr>
            <a:endParaRPr lang="en-GB" sz="2000" b="1" dirty="0">
              <a:solidFill>
                <a:srgbClr val="0070C0"/>
              </a:solidFill>
            </a:endParaRP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949318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152400" y="390227"/>
            <a:ext cx="8818692" cy="3462486"/>
          </a:xfrm>
          <a:prstGeom prst="rect">
            <a:avLst/>
          </a:prstGeom>
        </p:spPr>
        <p:txBody>
          <a:bodyPr vert="horz" wrap="square" lIns="0" tIns="0" rIns="0" bIns="0" rtlCol="0">
            <a:spAutoFit/>
          </a:bodyPr>
          <a:lstStyle/>
          <a:p>
            <a:pPr algn="just"/>
            <a:endParaRPr lang="en-GB" dirty="0">
              <a:latin typeface="Times New Roman" panose="02020603050405020304" pitchFamily="18" charset="0"/>
              <a:cs typeface="Times New Roman" panose="02020603050405020304" pitchFamily="18" charset="0"/>
            </a:endParaRPr>
          </a:p>
          <a:p>
            <a:pPr marL="342900" lvl="0" indent="-342900">
              <a:lnSpc>
                <a:spcPct val="150000"/>
              </a:lnSpc>
              <a:buFont typeface="Wingdings" panose="05000000000000000000" pitchFamily="2" charset="2"/>
              <a:buChar char="v"/>
            </a:pPr>
            <a:r>
              <a:rPr lang="en-US" sz="2000" b="1" dirty="0"/>
              <a:t>Retail</a:t>
            </a:r>
            <a:r>
              <a:rPr lang="en-US" sz="2000" dirty="0"/>
              <a:t>: Retail environments can use </a:t>
            </a:r>
            <a:r>
              <a:rPr lang="en-US" sz="2000" dirty="0" err="1"/>
              <a:t>AmI</a:t>
            </a:r>
            <a:r>
              <a:rPr lang="en-US" sz="2000" dirty="0"/>
              <a:t> to personalize shopping experiences, manage inventory, and improve customer service.</a:t>
            </a:r>
          </a:p>
          <a:p>
            <a:pPr marL="342900" lvl="0" indent="-342900">
              <a:lnSpc>
                <a:spcPct val="150000"/>
              </a:lnSpc>
              <a:buFont typeface="Wingdings" panose="05000000000000000000" pitchFamily="2" charset="2"/>
              <a:buChar char="v"/>
            </a:pPr>
            <a:endParaRPr lang="en-US" sz="2000" dirty="0"/>
          </a:p>
          <a:p>
            <a:pPr marL="342900" lvl="0" indent="-342900">
              <a:lnSpc>
                <a:spcPct val="150000"/>
              </a:lnSpc>
              <a:buFont typeface="Wingdings" panose="05000000000000000000" pitchFamily="2" charset="2"/>
              <a:buChar char="v"/>
            </a:pPr>
            <a:r>
              <a:rPr lang="en-US" sz="2000" b="1" dirty="0"/>
              <a:t>Public Spaces</a:t>
            </a:r>
            <a:r>
              <a:rPr lang="en-US" sz="2000" dirty="0"/>
              <a:t>: </a:t>
            </a:r>
            <a:r>
              <a:rPr lang="en-US" sz="2000" dirty="0" err="1"/>
              <a:t>AmI</a:t>
            </a:r>
            <a:r>
              <a:rPr lang="en-US" sz="2000" dirty="0"/>
              <a:t> can be implemented in public areas like airports, museums, and city streets to enhance security, provide information, and improve overall user experience.</a:t>
            </a:r>
          </a:p>
          <a:p>
            <a:pPr>
              <a:lnSpc>
                <a:spcPct val="150000"/>
              </a:lnSpc>
            </a:pPr>
            <a:endParaRPr lang="en-US" dirty="0"/>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91440" y="-183383"/>
            <a:ext cx="8971092" cy="1228478"/>
          </a:xfrm>
          <a:prstGeom prst="rect">
            <a:avLst/>
          </a:prstGeom>
        </p:spPr>
        <p:txBody>
          <a:bodyPr wrap="square">
            <a:spAutoFit/>
          </a:bodyPr>
          <a:lstStyle/>
          <a:p>
            <a:pPr>
              <a:lnSpc>
                <a:spcPct val="200000"/>
              </a:lnSpc>
            </a:pPr>
            <a:r>
              <a:rPr lang="en-GB" sz="2000" b="1" dirty="0">
                <a:solidFill>
                  <a:srgbClr val="0070C0"/>
                </a:solidFill>
              </a:rPr>
              <a:t>6.0</a:t>
            </a:r>
            <a:r>
              <a:rPr lang="en-GB" sz="2000" b="1" dirty="0">
                <a:cs typeface="Calibri" panose="020F0502020204030204" pitchFamily="34" charset="0"/>
              </a:rPr>
              <a:t> </a:t>
            </a:r>
            <a:r>
              <a:rPr lang="en-US" sz="2000" b="1" dirty="0">
                <a:solidFill>
                  <a:srgbClr val="0070C0"/>
                </a:solidFill>
              </a:rPr>
              <a:t>Applications of Ambient Intelligence</a:t>
            </a:r>
          </a:p>
          <a:p>
            <a:pPr>
              <a:lnSpc>
                <a:spcPct val="200000"/>
              </a:lnSpc>
            </a:pPr>
            <a:endParaRPr lang="en-GB" sz="2000" b="1" dirty="0">
              <a:solidFill>
                <a:srgbClr val="0070C0"/>
              </a:solidFill>
            </a:endParaRP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779361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152400" y="390227"/>
            <a:ext cx="8818692" cy="5350632"/>
          </a:xfrm>
          <a:prstGeom prst="rect">
            <a:avLst/>
          </a:prstGeom>
        </p:spPr>
        <p:txBody>
          <a:bodyPr vert="horz" wrap="square" lIns="0" tIns="0" rIns="0" bIns="0" rtlCol="0">
            <a:spAutoFit/>
          </a:bodyPr>
          <a:lstStyle/>
          <a:p>
            <a:pPr marL="285750" indent="-285750" algn="just">
              <a:lnSpc>
                <a:spcPct val="150000"/>
              </a:lnSpc>
              <a:buFont typeface="Wingdings" panose="05000000000000000000" pitchFamily="2" charset="2"/>
              <a:buChar char="v"/>
            </a:pPr>
            <a:endParaRPr lang="en-GB" dirty="0">
              <a:latin typeface="+mj-lt"/>
              <a:cs typeface="Times New Roman" panose="02020603050405020304" pitchFamily="18" charset="0"/>
            </a:endParaRPr>
          </a:p>
          <a:p>
            <a:pPr marL="285750" indent="-285750" algn="just">
              <a:lnSpc>
                <a:spcPct val="150000"/>
              </a:lnSpc>
              <a:buFont typeface="Wingdings" panose="05000000000000000000" pitchFamily="2" charset="2"/>
              <a:buChar char="v"/>
            </a:pPr>
            <a:r>
              <a:rPr lang="en-US" b="1" dirty="0">
                <a:latin typeface="+mj-lt"/>
              </a:rPr>
              <a:t>Privacy and Security</a:t>
            </a:r>
            <a:r>
              <a:rPr lang="en-US" dirty="0">
                <a:latin typeface="+mj-lt"/>
              </a:rPr>
              <a:t>: The pervasive nature of </a:t>
            </a:r>
            <a:r>
              <a:rPr lang="en-US" dirty="0" err="1">
                <a:latin typeface="+mj-lt"/>
              </a:rPr>
              <a:t>AmI</a:t>
            </a:r>
            <a:r>
              <a:rPr lang="en-US" dirty="0">
                <a:latin typeface="+mj-lt"/>
              </a:rPr>
              <a:t> raises significant concerns about data privacy and security. Ensuring that sensitive information is protected is paramount.</a:t>
            </a:r>
          </a:p>
          <a:p>
            <a:pPr marL="285750" indent="-285750" algn="just">
              <a:lnSpc>
                <a:spcPct val="150000"/>
              </a:lnSpc>
              <a:buFont typeface="Wingdings" panose="05000000000000000000" pitchFamily="2" charset="2"/>
              <a:buChar char="v"/>
            </a:pPr>
            <a:r>
              <a:rPr lang="en-US" b="1" dirty="0">
                <a:latin typeface="+mj-lt"/>
              </a:rPr>
              <a:t>Interoperability</a:t>
            </a:r>
            <a:r>
              <a:rPr lang="en-US" dirty="0">
                <a:latin typeface="+mj-lt"/>
              </a:rPr>
              <a:t>: Different devices and systems need to work seamlessly together. Standards and protocols are necessary to ensure compatibility and interoperability.</a:t>
            </a:r>
          </a:p>
          <a:p>
            <a:pPr marL="285750" indent="-285750" algn="just">
              <a:lnSpc>
                <a:spcPct val="150000"/>
              </a:lnSpc>
              <a:buFont typeface="Wingdings" panose="05000000000000000000" pitchFamily="2" charset="2"/>
              <a:buChar char="v"/>
            </a:pPr>
            <a:r>
              <a:rPr lang="en-US" b="1" dirty="0">
                <a:latin typeface="+mj-lt"/>
              </a:rPr>
              <a:t>Ethical Issues</a:t>
            </a:r>
            <a:r>
              <a:rPr lang="en-US" dirty="0">
                <a:latin typeface="+mj-lt"/>
              </a:rPr>
              <a:t>: The deployment of </a:t>
            </a:r>
            <a:r>
              <a:rPr lang="en-US" dirty="0" err="1">
                <a:latin typeface="+mj-lt"/>
              </a:rPr>
              <a:t>AmI</a:t>
            </a:r>
            <a:r>
              <a:rPr lang="en-US" dirty="0">
                <a:latin typeface="+mj-lt"/>
              </a:rPr>
              <a:t> systems involves ethical considerations related to surveillance, autonomy, and the potential for technology misuse.</a:t>
            </a:r>
          </a:p>
          <a:p>
            <a:pPr marL="285750" indent="-285750" algn="just">
              <a:lnSpc>
                <a:spcPct val="150000"/>
              </a:lnSpc>
              <a:buFont typeface="Wingdings" panose="05000000000000000000" pitchFamily="2" charset="2"/>
              <a:buChar char="v"/>
            </a:pPr>
            <a:r>
              <a:rPr lang="en-US" b="1" dirty="0">
                <a:latin typeface="+mj-lt"/>
              </a:rPr>
              <a:t>User Acceptance</a:t>
            </a:r>
            <a:r>
              <a:rPr lang="en-US" dirty="0">
                <a:latin typeface="+mj-lt"/>
              </a:rPr>
              <a:t>: For </a:t>
            </a:r>
            <a:r>
              <a:rPr lang="en-US" dirty="0" err="1">
                <a:latin typeface="+mj-lt"/>
              </a:rPr>
              <a:t>AmI</a:t>
            </a:r>
            <a:r>
              <a:rPr lang="en-US" dirty="0">
                <a:latin typeface="+mj-lt"/>
              </a:rPr>
              <a:t> systems to be successful, users must be willing to accept and trust the technology. This requires addressing concerns about reliability, ease of use, and perceived benefits.</a:t>
            </a:r>
          </a:p>
          <a:p>
            <a:pPr>
              <a:lnSpc>
                <a:spcPct val="150000"/>
              </a:lnSpc>
            </a:pPr>
            <a:endParaRPr lang="en-US" dirty="0"/>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304800" y="-140556"/>
            <a:ext cx="8971092" cy="1228478"/>
          </a:xfrm>
          <a:prstGeom prst="rect">
            <a:avLst/>
          </a:prstGeom>
        </p:spPr>
        <p:txBody>
          <a:bodyPr wrap="square">
            <a:spAutoFit/>
          </a:bodyPr>
          <a:lstStyle/>
          <a:p>
            <a:pPr>
              <a:lnSpc>
                <a:spcPct val="200000"/>
              </a:lnSpc>
            </a:pPr>
            <a:r>
              <a:rPr lang="en-GB" sz="2000" b="1" dirty="0">
                <a:solidFill>
                  <a:srgbClr val="0070C0"/>
                </a:solidFill>
              </a:rPr>
              <a:t>7.0</a:t>
            </a:r>
            <a:r>
              <a:rPr lang="en-GB" sz="2000" b="1" dirty="0">
                <a:cs typeface="Calibri" panose="020F0502020204030204" pitchFamily="34" charset="0"/>
              </a:rPr>
              <a:t> </a:t>
            </a:r>
            <a:r>
              <a:rPr lang="en-US" sz="2000" b="1" dirty="0">
                <a:solidFill>
                  <a:srgbClr val="0070C0"/>
                </a:solidFill>
              </a:rPr>
              <a:t>Ambient Intelligence Challenges and Considerations</a:t>
            </a:r>
          </a:p>
          <a:p>
            <a:pPr>
              <a:lnSpc>
                <a:spcPct val="200000"/>
              </a:lnSpc>
            </a:pPr>
            <a:endParaRPr lang="en-GB" sz="2000" b="1" dirty="0">
              <a:solidFill>
                <a:srgbClr val="0070C0"/>
              </a:solidFill>
            </a:endParaRP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236091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152400" y="390227"/>
            <a:ext cx="8818692" cy="6232475"/>
          </a:xfrm>
          <a:prstGeom prst="rect">
            <a:avLst/>
          </a:prstGeom>
        </p:spPr>
        <p:txBody>
          <a:bodyPr vert="horz" wrap="square" lIns="0" tIns="0" rIns="0" bIns="0" rtlCol="0">
            <a:spAutoFit/>
          </a:bodyPr>
          <a:lstStyle/>
          <a:p>
            <a:endParaRPr lang="en-US" b="1" dirty="0"/>
          </a:p>
          <a:p>
            <a:pPr marL="342900" indent="-342900">
              <a:buFont typeface="Wingdings" panose="05000000000000000000" pitchFamily="2" charset="2"/>
              <a:buChar char="v"/>
            </a:pPr>
            <a:r>
              <a:rPr lang="en-US" sz="2000" b="1" dirty="0"/>
              <a:t>Integration with AI and Machine Learning</a:t>
            </a:r>
            <a:r>
              <a:rPr lang="en-US" sz="2000" dirty="0"/>
              <a:t>: The integration of advanced AI and machine learning techniques will enable more sophisticated context awareness, prediction, and personalization.</a:t>
            </a:r>
          </a:p>
          <a:p>
            <a:pPr marL="342900" indent="-342900">
              <a:buFont typeface="Wingdings" panose="05000000000000000000" pitchFamily="2" charset="2"/>
              <a:buChar char="v"/>
            </a:pPr>
            <a:endParaRPr lang="en-US" sz="2000" dirty="0"/>
          </a:p>
          <a:p>
            <a:pPr marL="342900" indent="-342900">
              <a:buFont typeface="Wingdings" panose="05000000000000000000" pitchFamily="2" charset="2"/>
              <a:buChar char="v"/>
            </a:pPr>
            <a:r>
              <a:rPr lang="en-US" sz="2000" b="1" dirty="0"/>
              <a:t>Improvement in Sensor Technology</a:t>
            </a:r>
            <a:r>
              <a:rPr lang="en-US" sz="2000" dirty="0"/>
              <a:t>: Advances in sensor technology will enhance the ability to collect accurate and diverse data from the environment.</a:t>
            </a:r>
          </a:p>
          <a:p>
            <a:pPr marL="342900" indent="-342900">
              <a:buFont typeface="Wingdings" panose="05000000000000000000" pitchFamily="2" charset="2"/>
              <a:buChar char="v"/>
            </a:pPr>
            <a:endParaRPr lang="en-US" sz="2000" dirty="0"/>
          </a:p>
          <a:p>
            <a:pPr marL="342900" indent="-342900">
              <a:buFont typeface="Wingdings" panose="05000000000000000000" pitchFamily="2" charset="2"/>
              <a:buChar char="v"/>
            </a:pPr>
            <a:r>
              <a:rPr lang="en-US" sz="2000" b="1" dirty="0"/>
              <a:t>Expansion of </a:t>
            </a:r>
            <a:r>
              <a:rPr lang="en-US" sz="2000" b="1" dirty="0" err="1"/>
              <a:t>IoT</a:t>
            </a:r>
            <a:r>
              <a:rPr lang="en-US" sz="2000" dirty="0"/>
              <a:t>: The proliferation of </a:t>
            </a:r>
            <a:r>
              <a:rPr lang="en-US" sz="2000" dirty="0" err="1"/>
              <a:t>IoT</a:t>
            </a:r>
            <a:r>
              <a:rPr lang="en-US" sz="2000" dirty="0"/>
              <a:t> devices will further enhance the connectivity and functionality of </a:t>
            </a:r>
            <a:r>
              <a:rPr lang="en-US" sz="2000" dirty="0" err="1"/>
              <a:t>AmI</a:t>
            </a:r>
            <a:r>
              <a:rPr lang="en-US" sz="2000" dirty="0"/>
              <a:t> environments.</a:t>
            </a:r>
          </a:p>
          <a:p>
            <a:pPr marL="342900" indent="-342900">
              <a:buFont typeface="Wingdings" panose="05000000000000000000" pitchFamily="2" charset="2"/>
              <a:buChar char="v"/>
            </a:pPr>
            <a:endParaRPr lang="en-US" sz="2000" dirty="0"/>
          </a:p>
          <a:p>
            <a:pPr marL="342900" indent="-342900">
              <a:buFont typeface="Wingdings" panose="05000000000000000000" pitchFamily="2" charset="2"/>
              <a:buChar char="v"/>
            </a:pPr>
            <a:r>
              <a:rPr lang="en-US" sz="2000" b="1" dirty="0"/>
              <a:t>Enhanced Human-Computer Interaction</a:t>
            </a:r>
            <a:r>
              <a:rPr lang="en-US" sz="2000" dirty="0"/>
              <a:t>: Future </a:t>
            </a:r>
            <a:r>
              <a:rPr lang="en-US" sz="2000" dirty="0" err="1"/>
              <a:t>AmI</a:t>
            </a:r>
            <a:r>
              <a:rPr lang="en-US" sz="2000" dirty="0"/>
              <a:t> systems will focus on more natural and intuitive ways for humans to interact with their environments, such as voice, gesture, and emotion recognition.</a:t>
            </a:r>
          </a:p>
          <a:p>
            <a:pPr marL="342900" indent="-342900">
              <a:buFont typeface="Wingdings" panose="05000000000000000000" pitchFamily="2" charset="2"/>
              <a:buChar char="v"/>
            </a:pPr>
            <a:endParaRPr lang="en-US" sz="2000" dirty="0"/>
          </a:p>
          <a:p>
            <a:pPr marL="342900" indent="-342900">
              <a:buFont typeface="Wingdings" panose="05000000000000000000" pitchFamily="2" charset="2"/>
              <a:buChar char="v"/>
            </a:pPr>
            <a:r>
              <a:rPr lang="en-US" sz="2000" b="1" dirty="0"/>
              <a:t>Sustainability</a:t>
            </a:r>
            <a:r>
              <a:rPr lang="en-US" sz="2000" dirty="0"/>
              <a:t>: </a:t>
            </a:r>
            <a:r>
              <a:rPr lang="en-US" sz="2000" dirty="0" err="1"/>
              <a:t>AmI</a:t>
            </a:r>
            <a:r>
              <a:rPr lang="en-US" sz="2000" dirty="0"/>
              <a:t> can contribute to sustainability efforts by optimizing resource usage, reducing energy consumption, and promoting environmentally friendly practices.</a:t>
            </a:r>
          </a:p>
          <a:p>
            <a:pPr>
              <a:lnSpc>
                <a:spcPct val="150000"/>
              </a:lnSpc>
            </a:pPr>
            <a:endParaRPr lang="en-US" dirty="0"/>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304800" y="-140556"/>
            <a:ext cx="8971092" cy="707886"/>
          </a:xfrm>
          <a:prstGeom prst="rect">
            <a:avLst/>
          </a:prstGeom>
        </p:spPr>
        <p:txBody>
          <a:bodyPr wrap="square">
            <a:spAutoFit/>
          </a:bodyPr>
          <a:lstStyle/>
          <a:p>
            <a:pPr>
              <a:lnSpc>
                <a:spcPct val="200000"/>
              </a:lnSpc>
            </a:pPr>
            <a:r>
              <a:rPr lang="en-GB" sz="2000" b="1" dirty="0">
                <a:solidFill>
                  <a:srgbClr val="0070C0"/>
                </a:solidFill>
              </a:rPr>
              <a:t>8.0</a:t>
            </a:r>
            <a:r>
              <a:rPr lang="en-GB" sz="2000" b="1" dirty="0">
                <a:cs typeface="Calibri" panose="020F0502020204030204" pitchFamily="34" charset="0"/>
              </a:rPr>
              <a:t> </a:t>
            </a:r>
            <a:r>
              <a:rPr lang="en-GB" sz="2000" b="1" dirty="0">
                <a:solidFill>
                  <a:srgbClr val="0070C0"/>
                </a:solidFill>
              </a:rPr>
              <a:t>Future directions of </a:t>
            </a:r>
            <a:r>
              <a:rPr lang="en-US" sz="2000" b="1" dirty="0">
                <a:solidFill>
                  <a:srgbClr val="0070C0"/>
                </a:solidFill>
              </a:rPr>
              <a:t>Ambient Intelligence </a:t>
            </a: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624314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172199" y="140258"/>
            <a:ext cx="2798893" cy="333425"/>
          </a:xfrm>
          <a:prstGeom prst="rect">
            <a:avLst/>
          </a:prstGeom>
        </p:spPr>
        <p:txBody>
          <a:bodyPr vert="horz" wrap="square" lIns="0" tIns="0" rIns="0" bIns="0" rtlCol="0">
            <a:spAutoFit/>
          </a:bodyPr>
          <a:lstStyle/>
          <a:p>
            <a:pPr marL="12700">
              <a:lnSpc>
                <a:spcPts val="2630"/>
              </a:lnSpc>
            </a:pPr>
            <a:r>
              <a:rPr lang="en-US" sz="2200" spc="-25" dirty="0">
                <a:solidFill>
                  <a:srgbClr val="FFFFFF"/>
                </a:solidFill>
                <a:latin typeface="Times New Roman"/>
                <a:cs typeface="Times New Roman"/>
              </a:rPr>
              <a:t>KCA University</a:t>
            </a:r>
            <a:endParaRPr sz="2200" dirty="0">
              <a:latin typeface="Times New Roman"/>
              <a:cs typeface="Times New Roman"/>
            </a:endParaRPr>
          </a:p>
        </p:txBody>
      </p:sp>
      <p:sp>
        <p:nvSpPr>
          <p:cNvPr id="8" name="object 8"/>
          <p:cNvSpPr txBox="1"/>
          <p:nvPr/>
        </p:nvSpPr>
        <p:spPr>
          <a:xfrm>
            <a:off x="152400" y="390227"/>
            <a:ext cx="8818692" cy="4693593"/>
          </a:xfrm>
          <a:prstGeom prst="rect">
            <a:avLst/>
          </a:prstGeom>
        </p:spPr>
        <p:txBody>
          <a:bodyPr vert="horz" wrap="square" lIns="0" tIns="0" rIns="0" bIns="0" rtlCol="0">
            <a:spAutoFit/>
          </a:bodyPr>
          <a:lstStyle/>
          <a:p>
            <a:endParaRPr lang="en-US" b="1" dirty="0"/>
          </a:p>
          <a:p>
            <a:pPr marL="342900" indent="-342900">
              <a:buFont typeface="Wingdings" panose="05000000000000000000" pitchFamily="2" charset="2"/>
              <a:buChar char="v"/>
            </a:pPr>
            <a:endParaRPr lang="en-US" sz="2000" b="1" dirty="0"/>
          </a:p>
          <a:p>
            <a:pPr marL="342900" indent="-342900">
              <a:lnSpc>
                <a:spcPct val="150000"/>
              </a:lnSpc>
              <a:buFont typeface="Wingdings" panose="05000000000000000000" pitchFamily="2" charset="2"/>
              <a:buChar char="v"/>
            </a:pPr>
            <a:r>
              <a:rPr lang="en-US" sz="2000" dirty="0"/>
              <a:t>Ambient Intelligence represents a significant evolution in the way technology interacts with human life. </a:t>
            </a:r>
          </a:p>
          <a:p>
            <a:pPr marL="342900" indent="-342900">
              <a:lnSpc>
                <a:spcPct val="150000"/>
              </a:lnSpc>
              <a:buFont typeface="Wingdings" panose="05000000000000000000" pitchFamily="2" charset="2"/>
              <a:buChar char="v"/>
            </a:pPr>
            <a:r>
              <a:rPr lang="en-US" sz="2000" dirty="0"/>
              <a:t>By creating environments that are intelligent, adaptive, and responsive, </a:t>
            </a:r>
            <a:r>
              <a:rPr lang="en-US" sz="2000" dirty="0" err="1"/>
              <a:t>AmI</a:t>
            </a:r>
            <a:r>
              <a:rPr lang="en-US" sz="2000" dirty="0"/>
              <a:t> has the potential to enhance quality of life, improve efficiency, and create more personalized and intuitive interactions with technology. </a:t>
            </a:r>
          </a:p>
          <a:p>
            <a:pPr marL="342900" indent="-342900">
              <a:lnSpc>
                <a:spcPct val="150000"/>
              </a:lnSpc>
              <a:buFont typeface="Wingdings" panose="05000000000000000000" pitchFamily="2" charset="2"/>
              <a:buChar char="v"/>
            </a:pPr>
            <a:r>
              <a:rPr lang="en-US" sz="2000" dirty="0"/>
              <a:t>However, addressing the challenges of privacy, security, and ethical considerations will be crucial for the successful implementation and acceptance of </a:t>
            </a:r>
            <a:r>
              <a:rPr lang="en-US" sz="2000" dirty="0" err="1"/>
              <a:t>AmI</a:t>
            </a:r>
            <a:r>
              <a:rPr lang="en-US" sz="2000" dirty="0"/>
              <a:t> systems in society.</a:t>
            </a:r>
          </a:p>
          <a:p>
            <a:pPr>
              <a:lnSpc>
                <a:spcPct val="150000"/>
              </a:lnSpc>
            </a:pPr>
            <a:endParaRPr lang="en-US" dirty="0"/>
          </a:p>
        </p:txBody>
      </p:sp>
      <p:cxnSp>
        <p:nvCxnSpPr>
          <p:cNvPr id="3" name="Straight Connector 2"/>
          <p:cNvCxnSpPr/>
          <p:nvPr/>
        </p:nvCxnSpPr>
        <p:spPr>
          <a:xfrm flipV="1">
            <a:off x="91440" y="509016"/>
            <a:ext cx="8979408" cy="24384"/>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304800" y="-140556"/>
            <a:ext cx="8971092" cy="612925"/>
          </a:xfrm>
          <a:prstGeom prst="rect">
            <a:avLst/>
          </a:prstGeom>
        </p:spPr>
        <p:txBody>
          <a:bodyPr wrap="square">
            <a:spAutoFit/>
          </a:bodyPr>
          <a:lstStyle/>
          <a:p>
            <a:pPr>
              <a:lnSpc>
                <a:spcPct val="200000"/>
              </a:lnSpc>
            </a:pPr>
            <a:r>
              <a:rPr lang="en-GB" sz="2000" b="1" dirty="0">
                <a:solidFill>
                  <a:srgbClr val="0070C0"/>
                </a:solidFill>
              </a:rPr>
              <a:t>9.0</a:t>
            </a:r>
            <a:r>
              <a:rPr lang="en-GB" sz="2000" b="1" dirty="0">
                <a:cs typeface="Calibri" panose="020F0502020204030204" pitchFamily="34" charset="0"/>
              </a:rPr>
              <a:t> </a:t>
            </a:r>
            <a:r>
              <a:rPr lang="en-GB" sz="2000" b="1" dirty="0">
                <a:solidFill>
                  <a:srgbClr val="0070C0"/>
                </a:solidFill>
              </a:rPr>
              <a:t>Conclusion</a:t>
            </a:r>
            <a:r>
              <a:rPr lang="en-US" sz="2000" b="1" dirty="0">
                <a:solidFill>
                  <a:srgbClr val="0070C0"/>
                </a:solidFill>
              </a:rPr>
              <a:t> </a:t>
            </a: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276075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6FCBA"/>
        </a:solidFill>
        <a:effectLst/>
      </p:bgPr>
    </p:bg>
    <p:spTree>
      <p:nvGrpSpPr>
        <p:cNvPr id="1" name=""/>
        <p:cNvGrpSpPr/>
        <p:nvPr/>
      </p:nvGrpSpPr>
      <p:grpSpPr>
        <a:xfrm>
          <a:off x="0" y="0"/>
          <a:ext cx="0" cy="0"/>
          <a:chOff x="0" y="0"/>
          <a:chExt cx="0" cy="0"/>
        </a:xfrm>
      </p:grpSpPr>
      <p:sp>
        <p:nvSpPr>
          <p:cNvPr id="6" name="object 6"/>
          <p:cNvSpPr txBox="1"/>
          <p:nvPr/>
        </p:nvSpPr>
        <p:spPr>
          <a:xfrm>
            <a:off x="6172199" y="140258"/>
            <a:ext cx="2798893" cy="291298"/>
          </a:xfrm>
          <a:prstGeom prst="rect">
            <a:avLst/>
          </a:prstGeom>
        </p:spPr>
        <p:txBody>
          <a:bodyPr vert="horz" wrap="square" lIns="0" tIns="0" rIns="0" bIns="0" rtlCol="0">
            <a:spAutoFit/>
          </a:bodyPr>
          <a:lstStyle/>
          <a:p>
            <a:pPr marL="12700">
              <a:lnSpc>
                <a:spcPts val="2630"/>
              </a:lnSpc>
            </a:pPr>
            <a:r>
              <a:rPr lang="en-US" sz="1400" spc="-25" dirty="0">
                <a:solidFill>
                  <a:srgbClr val="333399"/>
                </a:solidFill>
                <a:cs typeface="Times New Roman"/>
              </a:rPr>
              <a:t>KCA University</a:t>
            </a:r>
            <a:endParaRPr sz="1400" dirty="0">
              <a:solidFill>
                <a:srgbClr val="333399"/>
              </a:solidFill>
              <a:cs typeface="Times New Roman"/>
            </a:endParaRPr>
          </a:p>
        </p:txBody>
      </p:sp>
      <p:sp useBgFill="1">
        <p:nvSpPr>
          <p:cNvPr id="8" name="object 8"/>
          <p:cNvSpPr txBox="1"/>
          <p:nvPr/>
        </p:nvSpPr>
        <p:spPr>
          <a:xfrm>
            <a:off x="228600" y="1676329"/>
            <a:ext cx="8610600" cy="246221"/>
          </a:xfrm>
          <a:prstGeom prst="rect">
            <a:avLst/>
          </a:prstGeom>
        </p:spPr>
        <p:txBody>
          <a:bodyPr vert="horz" wrap="square" lIns="0" tIns="0" rIns="0" bIns="0" rtlCol="0">
            <a:spAutoFit/>
          </a:bodyPr>
          <a:lstStyle/>
          <a:p>
            <a:pPr algn="ctr"/>
            <a:endParaRPr lang="en-US" sz="1600" b="1" spc="-5" dirty="0">
              <a:latin typeface="Times New Roman" panose="02020603050405020304" pitchFamily="18" charset="0"/>
              <a:cs typeface="Times New Roman" panose="02020603050405020304" pitchFamily="18" charset="0"/>
            </a:endParaRPr>
          </a:p>
        </p:txBody>
      </p:sp>
      <p:cxnSp>
        <p:nvCxnSpPr>
          <p:cNvPr id="3" name="Straight Connector 2"/>
          <p:cNvCxnSpPr/>
          <p:nvPr/>
        </p:nvCxnSpPr>
        <p:spPr>
          <a:xfrm>
            <a:off x="152400" y="609600"/>
            <a:ext cx="8945562" cy="0"/>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11" name="Rectangle 10"/>
          <p:cNvSpPr/>
          <p:nvPr/>
        </p:nvSpPr>
        <p:spPr>
          <a:xfrm>
            <a:off x="76200" y="0"/>
            <a:ext cx="7620000" cy="830997"/>
          </a:xfrm>
          <a:prstGeom prst="rect">
            <a:avLst/>
          </a:prstGeom>
        </p:spPr>
        <p:txBody>
          <a:bodyPr wrap="square">
            <a:spAutoFit/>
          </a:bodyPr>
          <a:lstStyle/>
          <a:p>
            <a:pPr marL="0" lvl="1" algn="just">
              <a:lnSpc>
                <a:spcPct val="150000"/>
              </a:lnSpc>
            </a:pPr>
            <a:r>
              <a:rPr lang="en-GB" sz="800" b="1" dirty="0">
                <a:latin typeface="Calibri" panose="020F0502020204030204" pitchFamily="34" charset="0"/>
                <a:ea typeface="Times New Roman" panose="02020603050405020304" pitchFamily="18" charset="0"/>
                <a:cs typeface="Calibri" panose="020F0502020204030204" pitchFamily="34" charset="0"/>
              </a:rPr>
              <a:t>.</a:t>
            </a:r>
          </a:p>
          <a:p>
            <a:pPr>
              <a:lnSpc>
                <a:spcPct val="200000"/>
              </a:lnSpc>
            </a:pPr>
            <a:r>
              <a:rPr lang="en-US" dirty="0">
                <a:latin typeface="Times New Roman" panose="02020603050405020304" pitchFamily="18" charset="0"/>
                <a:cs typeface="Times New Roman" panose="02020603050405020304" pitchFamily="18" charset="0"/>
              </a:rPr>
              <a:t> </a:t>
            </a:r>
          </a:p>
        </p:txBody>
      </p:sp>
      <p:sp>
        <p:nvSpPr>
          <p:cNvPr id="7" name="Rectangle 6"/>
          <p:cNvSpPr/>
          <p:nvPr/>
        </p:nvSpPr>
        <p:spPr>
          <a:xfrm>
            <a:off x="0" y="6629400"/>
            <a:ext cx="9144000" cy="228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 name="Rectangle 1"/>
          <p:cNvSpPr/>
          <p:nvPr/>
        </p:nvSpPr>
        <p:spPr>
          <a:xfrm>
            <a:off x="3200400" y="731490"/>
            <a:ext cx="3352800" cy="2970044"/>
          </a:xfrm>
          <a:prstGeom prst="rect">
            <a:avLst/>
          </a:prstGeom>
        </p:spPr>
        <p:txBody>
          <a:bodyPr wrap="square">
            <a:spAutoFit/>
          </a:bodyPr>
          <a:lstStyle/>
          <a:p>
            <a:pPr lvl="0"/>
            <a:endParaRPr lang="en-GB" sz="1300" dirty="0">
              <a:latin typeface="Calibri" panose="020F0502020204030204" pitchFamily="34" charset="0"/>
              <a:cs typeface="Calibri" panose="020F0502020204030204" pitchFamily="34" charset="0"/>
            </a:endParaRPr>
          </a:p>
          <a:p>
            <a:pPr lvl="0"/>
            <a:endParaRPr lang="en-GB" sz="1300" dirty="0">
              <a:latin typeface="Calibri" panose="020F0502020204030204" pitchFamily="34" charset="0"/>
              <a:cs typeface="Calibri" panose="020F0502020204030204" pitchFamily="34" charset="0"/>
            </a:endParaRPr>
          </a:p>
          <a:p>
            <a:pPr lvl="0"/>
            <a:endParaRPr lang="en-GB" sz="1300" dirty="0">
              <a:latin typeface="Calibri" panose="020F0502020204030204" pitchFamily="34" charset="0"/>
              <a:cs typeface="Calibri" panose="020F0502020204030204" pitchFamily="34" charset="0"/>
            </a:endParaRPr>
          </a:p>
          <a:p>
            <a:pPr lvl="0"/>
            <a:endParaRPr lang="en-GB" sz="1300" dirty="0">
              <a:latin typeface="Calibri" panose="020F0502020204030204" pitchFamily="34" charset="0"/>
              <a:cs typeface="Calibri" panose="020F0502020204030204" pitchFamily="34" charset="0"/>
            </a:endParaRPr>
          </a:p>
          <a:p>
            <a:pPr lvl="0"/>
            <a:endParaRPr lang="en-GB" sz="1300" dirty="0">
              <a:latin typeface="Calibri" panose="020F0502020204030204" pitchFamily="34" charset="0"/>
              <a:cs typeface="Calibri" panose="020F0502020204030204" pitchFamily="34" charset="0"/>
            </a:endParaRPr>
          </a:p>
          <a:p>
            <a:pPr lvl="0"/>
            <a:r>
              <a:rPr lang="en-GB" sz="4000" dirty="0">
                <a:latin typeface="Times New Roman" panose="02020603050405020304" pitchFamily="18" charset="0"/>
                <a:cs typeface="Times New Roman" panose="02020603050405020304" pitchFamily="18" charset="0"/>
              </a:rPr>
              <a:t>                                                                                                       </a:t>
            </a:r>
            <a:r>
              <a:rPr lang="en-GB" sz="2400" dirty="0">
                <a:latin typeface="+mj-lt"/>
                <a:cs typeface="Times New Roman" panose="02020603050405020304" pitchFamily="18" charset="0"/>
              </a:rPr>
              <a:t>Thank you</a:t>
            </a:r>
            <a:endParaRPr lang="en-GB" sz="2400" b="1" dirty="0">
              <a:solidFill>
                <a:srgbClr val="0070C0"/>
              </a:solidFill>
              <a:latin typeface="+mj-lt"/>
              <a:cs typeface="Times New Roman" panose="02020603050405020304" pitchFamily="18" charset="0"/>
            </a:endParaRPr>
          </a:p>
          <a:p>
            <a:pPr lvl="0"/>
            <a:endParaRPr lang="en-GB" sz="1300" dirty="0">
              <a:latin typeface="Calibri" panose="020F0502020204030204" pitchFamily="34" charset="0"/>
              <a:cs typeface="Calibri" panose="020F0502020204030204" pitchFamily="34" charset="0"/>
            </a:endParaRPr>
          </a:p>
          <a:p>
            <a:endParaRPr lang="en-GB" sz="1400" dirty="0"/>
          </a:p>
          <a:p>
            <a:pPr marL="342900" indent="-342900">
              <a:buFont typeface="+mj-lt"/>
              <a:buAutoNum type="arabicParenR"/>
            </a:pPr>
            <a:endParaRPr lang="en-GB" sz="1400" dirty="0"/>
          </a:p>
          <a:p>
            <a:pPr lvl="0" algn="just"/>
            <a:endParaRPr lang="en-GB" sz="1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8602209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7265</TotalTime>
  <Words>2507</Words>
  <Application>Microsoft Office PowerPoint</Application>
  <PresentationFormat>On-screen Show (4:3)</PresentationFormat>
  <Paragraphs>320</Paragraphs>
  <Slides>29</Slides>
  <Notes>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Online2PDF.com</dc:creator>
  <cp:lastModifiedBy>Jane Masaa Mutia</cp:lastModifiedBy>
  <cp:revision>722</cp:revision>
  <dcterms:created xsi:type="dcterms:W3CDTF">2019-05-23T12:12:41Z</dcterms:created>
  <dcterms:modified xsi:type="dcterms:W3CDTF">2025-10-02T00:52:50Z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2019-05-23T00:00:00Z</vt:filetime>
  </property>
  <property fmtid="{D5CDD505-2E9C-101B-9397-08002B2CF9AE}" pid="3" name="LastSaved">
    <vt:filetime>2019-05-23T00:00:00Z</vt:filetime>
  </property>
</Properties>
</file>